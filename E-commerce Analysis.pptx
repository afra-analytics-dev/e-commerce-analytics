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61" r:id="rId14"/>
    <p:sldId id="271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233012-5C37-DF37-EF47-D806B5934395}" v="1187" dt="2025-11-10T21:13:58.424"/>
    <p1510:client id="{8FBDD221-184E-4E63-9A4C-60115132B4A9}" v="49" dt="2025-11-10T21:22:00.558"/>
    <p1510:client id="{A8A65368-1890-B27C-1977-043D217F9564}" v="86" dt="2025-11-10T21:36:36.6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FFDB1-8A83-43CD-85A4-A7779006DCC3}" type="doc">
      <dgm:prSet loTypeId="urn:microsoft.com/office/officeart/2016/7/layout/BasicProcessNew" loCatId="process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15556325-8892-475B-B8B7-29AFEC04673A}">
      <dgm:prSet/>
      <dgm:spPr/>
      <dgm:t>
        <a:bodyPr/>
        <a:lstStyle/>
        <a:p>
          <a:r>
            <a:rPr lang="en-US">
              <a:ea typeface="+mn-ea"/>
              <a:cs typeface="+mn-cs"/>
            </a:rPr>
            <a:t>KEY FEATURES IMPLEMENTED: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Interactive KPI Dashboard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Revenue Trend Analysis (2022-2024)</a:t>
          </a:r>
        </a:p>
      </dgm:t>
    </dgm:pt>
    <dgm:pt modelId="{370F8ACB-E136-47E7-95F8-0C1EFE930ABB}" type="parTrans" cxnId="{60E5772C-EC43-425D-884B-DDBB2A835A19}">
      <dgm:prSet/>
      <dgm:spPr/>
      <dgm:t>
        <a:bodyPr/>
        <a:lstStyle/>
        <a:p>
          <a:endParaRPr lang="en-US"/>
        </a:p>
      </dgm:t>
    </dgm:pt>
    <dgm:pt modelId="{CBFCED88-5FE3-45E8-A0FD-CC9F74F07B72}" type="sibTrans" cxnId="{60E5772C-EC43-425D-884B-DDBB2A835A19}">
      <dgm:prSet/>
      <dgm:spPr/>
      <dgm:t>
        <a:bodyPr/>
        <a:lstStyle/>
        <a:p>
          <a:endParaRPr lang="en-US"/>
        </a:p>
      </dgm:t>
    </dgm:pt>
    <dgm:pt modelId="{16C13FC0-E63F-4B08-8BCD-307248E3F98B}">
      <dgm:prSet/>
      <dgm:spPr/>
      <dgm:t>
        <a:bodyPr/>
        <a:lstStyle/>
        <a:p>
          <a:r>
            <a:rPr lang="en-US">
              <a:ea typeface="+mn-ea"/>
              <a:cs typeface="+mn-cs"/>
            </a:rPr>
            <a:t>Customer Segmentation (Premium/Standard/Basic)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Regional Performance Comparison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Automated Periodic Reporting</a:t>
          </a:r>
          <a:br>
            <a:rPr lang="en-US">
              <a:ea typeface="+mn-ea"/>
              <a:cs typeface="+mn-cs"/>
            </a:rPr>
          </a:b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BUSINESS IMPACT: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• Real-time performance monitoring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• Historical trend identification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• Customer base understanding</a:t>
          </a:r>
          <a:br>
            <a:rPr lang="en-US">
              <a:ea typeface="+mn-ea"/>
              <a:cs typeface="+mn-cs"/>
            </a:rPr>
          </a:br>
          <a:r>
            <a:rPr lang="en-US">
              <a:ea typeface="+mn-ea"/>
              <a:cs typeface="+mn-cs"/>
            </a:rPr>
            <a:t>• Geographic market analysis</a:t>
          </a:r>
          <a:br>
            <a:rPr lang="en-US">
              <a:ea typeface="+mn-ea"/>
              <a:cs typeface="+mn-cs"/>
            </a:rPr>
          </a:br>
          <a:br>
            <a:rPr lang="en-US">
              <a:ea typeface="+mn-ea"/>
              <a:cs typeface="+mn-cs"/>
            </a:rPr>
          </a:br>
          <a:endParaRPr lang="en-US">
            <a:ea typeface="+mn-ea"/>
            <a:cs typeface="+mn-cs"/>
          </a:endParaRPr>
        </a:p>
      </dgm:t>
    </dgm:pt>
    <dgm:pt modelId="{64586A9C-9FAC-4A0B-B114-9DA34D804EE4}" type="parTrans" cxnId="{705DB92B-6CBD-4A1A-94AF-221E855A9AD5}">
      <dgm:prSet/>
      <dgm:spPr/>
      <dgm:t>
        <a:bodyPr/>
        <a:lstStyle/>
        <a:p>
          <a:endParaRPr lang="en-US"/>
        </a:p>
      </dgm:t>
    </dgm:pt>
    <dgm:pt modelId="{87A1D5CE-3552-471F-AF31-BF8462BC1745}" type="sibTrans" cxnId="{705DB92B-6CBD-4A1A-94AF-221E855A9AD5}">
      <dgm:prSet/>
      <dgm:spPr/>
      <dgm:t>
        <a:bodyPr/>
        <a:lstStyle/>
        <a:p>
          <a:endParaRPr lang="en-US"/>
        </a:p>
      </dgm:t>
    </dgm:pt>
    <dgm:pt modelId="{D55B7E33-EC9A-420C-AB18-C8D0B3D3D36F}" type="pres">
      <dgm:prSet presAssocID="{AC7FFDB1-8A83-43CD-85A4-A7779006DCC3}" presName="Name0" presStyleCnt="0">
        <dgm:presLayoutVars>
          <dgm:dir/>
          <dgm:resizeHandles val="exact"/>
        </dgm:presLayoutVars>
      </dgm:prSet>
      <dgm:spPr/>
    </dgm:pt>
    <dgm:pt modelId="{B94446F5-D098-42B9-83FC-97E23E401E81}" type="pres">
      <dgm:prSet presAssocID="{15556325-8892-475B-B8B7-29AFEC04673A}" presName="node" presStyleLbl="node1" presStyleIdx="0" presStyleCnt="3">
        <dgm:presLayoutVars>
          <dgm:bulletEnabled val="1"/>
        </dgm:presLayoutVars>
      </dgm:prSet>
      <dgm:spPr/>
    </dgm:pt>
    <dgm:pt modelId="{CEFA56EB-4702-407E-A297-CDCCD0674701}" type="pres">
      <dgm:prSet presAssocID="{CBFCED88-5FE3-45E8-A0FD-CC9F74F07B72}" presName="sibTransSpacerBeforeConnector" presStyleCnt="0"/>
      <dgm:spPr/>
    </dgm:pt>
    <dgm:pt modelId="{7DCF4D3B-9F85-409C-9E4F-142A83A65612}" type="pres">
      <dgm:prSet presAssocID="{CBFCED88-5FE3-45E8-A0FD-CC9F74F07B72}" presName="sibTrans" presStyleLbl="node1" presStyleIdx="1" presStyleCnt="3"/>
      <dgm:spPr/>
    </dgm:pt>
    <dgm:pt modelId="{64C7FB71-C4BC-43AB-B249-EB4FA7530349}" type="pres">
      <dgm:prSet presAssocID="{CBFCED88-5FE3-45E8-A0FD-CC9F74F07B72}" presName="sibTransSpacerAfterConnector" presStyleCnt="0"/>
      <dgm:spPr/>
    </dgm:pt>
    <dgm:pt modelId="{A18429F9-F4F0-449E-970F-28E4C614CA68}" type="pres">
      <dgm:prSet presAssocID="{16C13FC0-E63F-4B08-8BCD-307248E3F98B}" presName="node" presStyleLbl="node1" presStyleIdx="2" presStyleCnt="3">
        <dgm:presLayoutVars>
          <dgm:bulletEnabled val="1"/>
        </dgm:presLayoutVars>
      </dgm:prSet>
      <dgm:spPr/>
    </dgm:pt>
  </dgm:ptLst>
  <dgm:cxnLst>
    <dgm:cxn modelId="{705DB92B-6CBD-4A1A-94AF-221E855A9AD5}" srcId="{AC7FFDB1-8A83-43CD-85A4-A7779006DCC3}" destId="{16C13FC0-E63F-4B08-8BCD-307248E3F98B}" srcOrd="1" destOrd="0" parTransId="{64586A9C-9FAC-4A0B-B114-9DA34D804EE4}" sibTransId="{87A1D5CE-3552-471F-AF31-BF8462BC1745}"/>
    <dgm:cxn modelId="{60E5772C-EC43-425D-884B-DDBB2A835A19}" srcId="{AC7FFDB1-8A83-43CD-85A4-A7779006DCC3}" destId="{15556325-8892-475B-B8B7-29AFEC04673A}" srcOrd="0" destOrd="0" parTransId="{370F8ACB-E136-47E7-95F8-0C1EFE930ABB}" sibTransId="{CBFCED88-5FE3-45E8-A0FD-CC9F74F07B72}"/>
    <dgm:cxn modelId="{B4DCB28D-7625-4D4C-B86F-CA7A69BEBDE8}" type="presOf" srcId="{16C13FC0-E63F-4B08-8BCD-307248E3F98B}" destId="{A18429F9-F4F0-449E-970F-28E4C614CA68}" srcOrd="0" destOrd="0" presId="urn:microsoft.com/office/officeart/2016/7/layout/BasicProcessNew"/>
    <dgm:cxn modelId="{DBFC74AB-51FD-44DE-8E8D-A35E0B74F5B5}" type="presOf" srcId="{15556325-8892-475B-B8B7-29AFEC04673A}" destId="{B94446F5-D098-42B9-83FC-97E23E401E81}" srcOrd="0" destOrd="0" presId="urn:microsoft.com/office/officeart/2016/7/layout/BasicProcessNew"/>
    <dgm:cxn modelId="{D6A5BBCD-0376-4A3D-939D-6DEB184B828B}" type="presOf" srcId="{CBFCED88-5FE3-45E8-A0FD-CC9F74F07B72}" destId="{7DCF4D3B-9F85-409C-9E4F-142A83A65612}" srcOrd="0" destOrd="0" presId="urn:microsoft.com/office/officeart/2016/7/layout/BasicProcessNew"/>
    <dgm:cxn modelId="{30E292D6-DDB4-40EB-9641-C3599592A76F}" type="presOf" srcId="{AC7FFDB1-8A83-43CD-85A4-A7779006DCC3}" destId="{D55B7E33-EC9A-420C-AB18-C8D0B3D3D36F}" srcOrd="0" destOrd="0" presId="urn:microsoft.com/office/officeart/2016/7/layout/BasicProcessNew"/>
    <dgm:cxn modelId="{BD58DE92-D066-4F27-93C4-FD30032D3183}" type="presParOf" srcId="{D55B7E33-EC9A-420C-AB18-C8D0B3D3D36F}" destId="{B94446F5-D098-42B9-83FC-97E23E401E81}" srcOrd="0" destOrd="0" presId="urn:microsoft.com/office/officeart/2016/7/layout/BasicProcessNew"/>
    <dgm:cxn modelId="{5D508D51-81AE-48E2-859A-67B6028151A8}" type="presParOf" srcId="{D55B7E33-EC9A-420C-AB18-C8D0B3D3D36F}" destId="{CEFA56EB-4702-407E-A297-CDCCD0674701}" srcOrd="1" destOrd="0" presId="urn:microsoft.com/office/officeart/2016/7/layout/BasicProcessNew"/>
    <dgm:cxn modelId="{D7C8A956-8B60-48F8-9AC3-A57F76BE7E0F}" type="presParOf" srcId="{D55B7E33-EC9A-420C-AB18-C8D0B3D3D36F}" destId="{7DCF4D3B-9F85-409C-9E4F-142A83A65612}" srcOrd="2" destOrd="0" presId="urn:microsoft.com/office/officeart/2016/7/layout/BasicProcessNew"/>
    <dgm:cxn modelId="{AE9F1CAB-3BAB-4BBB-80BD-F512488D7241}" type="presParOf" srcId="{D55B7E33-EC9A-420C-AB18-C8D0B3D3D36F}" destId="{64C7FB71-C4BC-43AB-B249-EB4FA7530349}" srcOrd="3" destOrd="0" presId="urn:microsoft.com/office/officeart/2016/7/layout/BasicProcessNew"/>
    <dgm:cxn modelId="{043D4D54-F095-4E80-B3BA-D65779892C7A}" type="presParOf" srcId="{D55B7E33-EC9A-420C-AB18-C8D0B3D3D36F}" destId="{A18429F9-F4F0-449E-970F-28E4C614CA68}" srcOrd="4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28C315-D26D-4AA8-9C67-EC6FB2F913F1}" type="doc">
      <dgm:prSet loTypeId="urn:microsoft.com/office/officeart/2005/8/layout/default" loCatId="list" qsTypeId="urn:microsoft.com/office/officeart/2005/8/quickstyle/simple4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ADC679EA-585F-4CBD-8FEC-73F981F0C4F2}">
      <dgm:prSet phldr="0"/>
      <dgm:spPr/>
      <dgm:t>
        <a:bodyPr/>
        <a:lstStyle/>
        <a:p>
          <a:r>
            <a:rPr lang="en-US" dirty="0">
              <a:latin typeface="Century Gothic" panose="020B0502020202020204"/>
            </a:rPr>
            <a:t>-&gt;</a:t>
          </a:r>
          <a:endParaRPr lang="en-US" dirty="0"/>
        </a:p>
      </dgm:t>
    </dgm:pt>
    <dgm:pt modelId="{4597DD65-9E97-47E1-9549-15F88B430828}" type="parTrans" cxnId="{A54F3C1E-D0DC-4A55-9FBB-019FFA56E80D}">
      <dgm:prSet/>
      <dgm:spPr/>
      <dgm:t>
        <a:bodyPr/>
        <a:lstStyle/>
        <a:p>
          <a:endParaRPr lang="en-US"/>
        </a:p>
      </dgm:t>
    </dgm:pt>
    <dgm:pt modelId="{1C9BAAF9-289A-4FDF-A49E-2273D2832AB1}" type="sibTrans" cxnId="{A54F3C1E-D0DC-4A55-9FBB-019FFA56E80D}">
      <dgm:prSet/>
      <dgm:spPr/>
      <dgm:t>
        <a:bodyPr/>
        <a:lstStyle/>
        <a:p>
          <a:endParaRPr lang="en-US"/>
        </a:p>
      </dgm:t>
    </dgm:pt>
    <dgm:pt modelId="{C5ABDC8D-B6CF-45E6-BDD6-F59A9270A0A7}">
      <dgm:prSet/>
      <dgm:spPr/>
      <dgm:t>
        <a:bodyPr/>
        <a:lstStyle/>
        <a:p>
          <a:r>
            <a:rPr lang="en-US" dirty="0"/>
            <a:t>COMPREHENSIVE VISUALIZATION:</a:t>
          </a:r>
        </a:p>
      </dgm:t>
    </dgm:pt>
    <dgm:pt modelId="{00A89D6A-F7F4-407A-92CB-398A32A54229}" type="parTrans" cxnId="{AAF20BBB-3E2B-4466-A476-B52C427C33F3}">
      <dgm:prSet/>
      <dgm:spPr/>
      <dgm:t>
        <a:bodyPr/>
        <a:lstStyle/>
        <a:p>
          <a:endParaRPr lang="en-US"/>
        </a:p>
      </dgm:t>
    </dgm:pt>
    <dgm:pt modelId="{0FABBE05-6F27-4690-AFD5-4327F661E0B9}" type="sibTrans" cxnId="{AAF20BBB-3E2B-4466-A476-B52C427C33F3}">
      <dgm:prSet/>
      <dgm:spPr/>
      <dgm:t>
        <a:bodyPr/>
        <a:lstStyle/>
        <a:p>
          <a:endParaRPr lang="en-US"/>
        </a:p>
      </dgm:t>
    </dgm:pt>
    <dgm:pt modelId="{B65DF6B7-E938-48DE-A450-5EF2C6009D29}">
      <dgm:prSet/>
      <dgm:spPr/>
      <dgm:t>
        <a:bodyPr/>
        <a:lstStyle/>
        <a:p>
          <a:r>
            <a:rPr lang="en-US" dirty="0"/>
            <a:t>• 9 Interactive Charts &amp; Graphs</a:t>
          </a:r>
        </a:p>
      </dgm:t>
    </dgm:pt>
    <dgm:pt modelId="{660528C0-EAC4-4CB2-AAF3-5667A8132D8D}" type="parTrans" cxnId="{46D8198F-FBAA-4210-98A1-EF7E59032912}">
      <dgm:prSet/>
      <dgm:spPr/>
      <dgm:t>
        <a:bodyPr/>
        <a:lstStyle/>
        <a:p>
          <a:endParaRPr lang="en-US"/>
        </a:p>
      </dgm:t>
    </dgm:pt>
    <dgm:pt modelId="{5E636116-6720-4BA1-B940-C4AC10DF752F}" type="sibTrans" cxnId="{46D8198F-FBAA-4210-98A1-EF7E59032912}">
      <dgm:prSet/>
      <dgm:spPr/>
      <dgm:t>
        <a:bodyPr/>
        <a:lstStyle/>
        <a:p>
          <a:endParaRPr lang="en-US"/>
        </a:p>
      </dgm:t>
    </dgm:pt>
    <dgm:pt modelId="{A61ABC41-6EE5-4CF0-81CA-B05498FCC08E}">
      <dgm:prSet/>
      <dgm:spPr/>
      <dgm:t>
        <a:bodyPr/>
        <a:lstStyle/>
        <a:p>
          <a:r>
            <a:rPr lang="en-US" dirty="0"/>
            <a:t>• Real-time KPI Monitoring</a:t>
          </a:r>
        </a:p>
      </dgm:t>
    </dgm:pt>
    <dgm:pt modelId="{8BFCE5D0-85EB-4AEE-9892-B077395583B2}" type="parTrans" cxnId="{18246EC2-03A5-4152-9AD1-758CC89199C4}">
      <dgm:prSet/>
      <dgm:spPr/>
      <dgm:t>
        <a:bodyPr/>
        <a:lstStyle/>
        <a:p>
          <a:endParaRPr lang="en-US"/>
        </a:p>
      </dgm:t>
    </dgm:pt>
    <dgm:pt modelId="{93F4FE84-F720-40D1-B576-5BB4B11E3128}" type="sibTrans" cxnId="{18246EC2-03A5-4152-9AD1-758CC89199C4}">
      <dgm:prSet/>
      <dgm:spPr/>
      <dgm:t>
        <a:bodyPr/>
        <a:lstStyle/>
        <a:p>
          <a:endParaRPr lang="en-US"/>
        </a:p>
      </dgm:t>
    </dgm:pt>
    <dgm:pt modelId="{9C88C7F0-324D-4081-84CF-1FECFE0045F6}">
      <dgm:prSet/>
      <dgm:spPr/>
      <dgm:t>
        <a:bodyPr/>
        <a:lstStyle/>
        <a:p>
          <a:r>
            <a:rPr lang="en-US" dirty="0"/>
            <a:t>• Color-coded Performance Indicators</a:t>
          </a:r>
        </a:p>
      </dgm:t>
    </dgm:pt>
    <dgm:pt modelId="{80FB0467-6858-4CD4-A4AB-C6A4D4BF6F88}" type="parTrans" cxnId="{7F16ACD5-99AD-4FCD-8B73-B5E4BD9B14CD}">
      <dgm:prSet/>
      <dgm:spPr/>
      <dgm:t>
        <a:bodyPr/>
        <a:lstStyle/>
        <a:p>
          <a:endParaRPr lang="en-US"/>
        </a:p>
      </dgm:t>
    </dgm:pt>
    <dgm:pt modelId="{85CE7E1A-FBBC-410E-A092-78B68C2825DD}" type="sibTrans" cxnId="{7F16ACD5-99AD-4FCD-8B73-B5E4BD9B14CD}">
      <dgm:prSet/>
      <dgm:spPr/>
      <dgm:t>
        <a:bodyPr/>
        <a:lstStyle/>
        <a:p>
          <a:endParaRPr lang="en-US"/>
        </a:p>
      </dgm:t>
    </dgm:pt>
    <dgm:pt modelId="{8C802268-B05D-437D-9F35-B1CF530CF3B8}">
      <dgm:prSet/>
      <dgm:spPr/>
      <dgm:t>
        <a:bodyPr/>
        <a:lstStyle/>
        <a:p>
          <a:r>
            <a:rPr lang="en-US" dirty="0"/>
            <a:t>• Multi-level Analytics Integration</a:t>
          </a:r>
        </a:p>
      </dgm:t>
    </dgm:pt>
    <dgm:pt modelId="{519AFBF7-E810-4C65-9F91-D01259BBD5CE}" type="parTrans" cxnId="{1717AAC2-EC28-4128-B5F5-7AEDFEA046CA}">
      <dgm:prSet/>
      <dgm:spPr/>
      <dgm:t>
        <a:bodyPr/>
        <a:lstStyle/>
        <a:p>
          <a:endParaRPr lang="en-US"/>
        </a:p>
      </dgm:t>
    </dgm:pt>
    <dgm:pt modelId="{F442800E-1A87-4A89-A41F-BEA23823C7EC}" type="sibTrans" cxnId="{1717AAC2-EC28-4128-B5F5-7AEDFEA046CA}">
      <dgm:prSet/>
      <dgm:spPr/>
      <dgm:t>
        <a:bodyPr/>
        <a:lstStyle/>
        <a:p>
          <a:endParaRPr lang="en-US"/>
        </a:p>
      </dgm:t>
    </dgm:pt>
    <dgm:pt modelId="{88ABE16A-943D-4C89-88E4-AE5B03777DF8}">
      <dgm:prSet/>
      <dgm:spPr/>
      <dgm:t>
        <a:bodyPr/>
        <a:lstStyle/>
        <a:p>
          <a:r>
            <a:rPr lang="en-US" dirty="0"/>
            <a:t>DASHBOARD COMPONENTS:</a:t>
          </a:r>
        </a:p>
      </dgm:t>
    </dgm:pt>
    <dgm:pt modelId="{E2308927-33E9-46D5-B05F-EAA5C6A11B11}" type="parTrans" cxnId="{F4410819-D257-451B-AA9B-83C60C53E9A0}">
      <dgm:prSet/>
      <dgm:spPr/>
      <dgm:t>
        <a:bodyPr/>
        <a:lstStyle/>
        <a:p>
          <a:endParaRPr lang="en-US"/>
        </a:p>
      </dgm:t>
    </dgm:pt>
    <dgm:pt modelId="{89677D75-D9C0-4CC7-AB60-A1DD1EF80143}" type="sibTrans" cxnId="{F4410819-D257-451B-AA9B-83C60C53E9A0}">
      <dgm:prSet/>
      <dgm:spPr/>
      <dgm:t>
        <a:bodyPr/>
        <a:lstStyle/>
        <a:p>
          <a:endParaRPr lang="en-US"/>
        </a:p>
      </dgm:t>
    </dgm:pt>
    <dgm:pt modelId="{994EA808-FB33-407C-9991-4E62BFC5E53D}">
      <dgm:prSet/>
      <dgm:spPr/>
      <dgm:t>
        <a:bodyPr/>
        <a:lstStyle/>
        <a:p>
          <a:r>
            <a:rPr lang="en-US" dirty="0"/>
            <a:t>1. Revenue Trends &amp; Forecasting</a:t>
          </a:r>
        </a:p>
      </dgm:t>
    </dgm:pt>
    <dgm:pt modelId="{B0F05127-04B7-438C-84D1-502FAF32081A}" type="parTrans" cxnId="{530F7444-4208-4707-AF1B-4F15EB2D43D5}">
      <dgm:prSet/>
      <dgm:spPr/>
      <dgm:t>
        <a:bodyPr/>
        <a:lstStyle/>
        <a:p>
          <a:endParaRPr lang="en-US"/>
        </a:p>
      </dgm:t>
    </dgm:pt>
    <dgm:pt modelId="{42F7A39E-F3D1-42B1-A485-5D7F450F4AC3}" type="sibTrans" cxnId="{530F7444-4208-4707-AF1B-4F15EB2D43D5}">
      <dgm:prSet/>
      <dgm:spPr/>
      <dgm:t>
        <a:bodyPr/>
        <a:lstStyle/>
        <a:p>
          <a:endParaRPr lang="en-US"/>
        </a:p>
      </dgm:t>
    </dgm:pt>
    <dgm:pt modelId="{8CBFBE50-4AD2-4E6D-9241-97F8B01BE739}">
      <dgm:prSet/>
      <dgm:spPr/>
      <dgm:t>
        <a:bodyPr/>
        <a:lstStyle/>
        <a:p>
          <a:r>
            <a:rPr lang="en-US" dirty="0"/>
            <a:t>2. Customer Segmentation</a:t>
          </a:r>
        </a:p>
      </dgm:t>
    </dgm:pt>
    <dgm:pt modelId="{FA9EE072-A5F1-4FBE-BBFC-21FAD7092B32}" type="parTrans" cxnId="{5947B9B5-7F87-4A59-81B8-922DDB24FBE9}">
      <dgm:prSet/>
      <dgm:spPr/>
      <dgm:t>
        <a:bodyPr/>
        <a:lstStyle/>
        <a:p>
          <a:endParaRPr lang="en-US"/>
        </a:p>
      </dgm:t>
    </dgm:pt>
    <dgm:pt modelId="{2FFBE65F-68B3-41E8-A3D8-58BAC595C000}" type="sibTrans" cxnId="{5947B9B5-7F87-4A59-81B8-922DDB24FBE9}">
      <dgm:prSet/>
      <dgm:spPr/>
      <dgm:t>
        <a:bodyPr/>
        <a:lstStyle/>
        <a:p>
          <a:endParaRPr lang="en-US"/>
        </a:p>
      </dgm:t>
    </dgm:pt>
    <dgm:pt modelId="{AFBCBF37-D92C-48EE-B14E-68C73BA81477}">
      <dgm:prSet/>
      <dgm:spPr/>
      <dgm:t>
        <a:bodyPr/>
        <a:lstStyle/>
        <a:p>
          <a:r>
            <a:rPr lang="en-US" dirty="0"/>
            <a:t>3. Regional Performance  </a:t>
          </a:r>
        </a:p>
      </dgm:t>
    </dgm:pt>
    <dgm:pt modelId="{E218B540-9584-4325-9B99-079FC417FA73}" type="parTrans" cxnId="{282A06AC-51C4-4EBC-BD57-CBE52A5CCBD6}">
      <dgm:prSet/>
      <dgm:spPr/>
      <dgm:t>
        <a:bodyPr/>
        <a:lstStyle/>
        <a:p>
          <a:endParaRPr lang="en-US"/>
        </a:p>
      </dgm:t>
    </dgm:pt>
    <dgm:pt modelId="{6E725D0F-64E9-4F4D-B184-E64BC413815E}" type="sibTrans" cxnId="{282A06AC-51C4-4EBC-BD57-CBE52A5CCBD6}">
      <dgm:prSet/>
      <dgm:spPr/>
      <dgm:t>
        <a:bodyPr/>
        <a:lstStyle/>
        <a:p>
          <a:endParaRPr lang="en-US"/>
        </a:p>
      </dgm:t>
    </dgm:pt>
    <dgm:pt modelId="{C1BF24FA-3391-4196-8AAA-441940FD6358}">
      <dgm:prSet/>
      <dgm:spPr/>
      <dgm:t>
        <a:bodyPr/>
        <a:lstStyle/>
        <a:p>
          <a:r>
            <a:rPr lang="en-US" dirty="0"/>
            <a:t>4. Feature Correlations</a:t>
          </a:r>
        </a:p>
      </dgm:t>
    </dgm:pt>
    <dgm:pt modelId="{626E4DFA-A0C2-41F9-B7EC-7070F7DF1440}" type="parTrans" cxnId="{08A424E5-C5B9-4B76-9635-128FCCA99A55}">
      <dgm:prSet/>
      <dgm:spPr/>
      <dgm:t>
        <a:bodyPr/>
        <a:lstStyle/>
        <a:p>
          <a:endParaRPr lang="en-US"/>
        </a:p>
      </dgm:t>
    </dgm:pt>
    <dgm:pt modelId="{C468CD37-4704-4733-8752-EE8E34280DC4}" type="sibTrans" cxnId="{08A424E5-C5B9-4B76-9635-128FCCA99A55}">
      <dgm:prSet/>
      <dgm:spPr/>
      <dgm:t>
        <a:bodyPr/>
        <a:lstStyle/>
        <a:p>
          <a:endParaRPr lang="en-US"/>
        </a:p>
      </dgm:t>
    </dgm:pt>
    <dgm:pt modelId="{18883DAC-5F98-4875-9FC0-F3DB2C5E23B6}">
      <dgm:prSet/>
      <dgm:spPr/>
      <dgm:t>
        <a:bodyPr/>
        <a:lstStyle/>
        <a:p>
          <a:r>
            <a:rPr lang="en-US" dirty="0"/>
            <a:t>5. Support Impact Analysis</a:t>
          </a:r>
        </a:p>
      </dgm:t>
    </dgm:pt>
    <dgm:pt modelId="{172DCCB6-CE26-47A2-9D08-F5AAC88C02D7}" type="parTrans" cxnId="{E9F1BD09-D2D7-4D2F-95AB-4C49ACC9B41B}">
      <dgm:prSet/>
      <dgm:spPr/>
      <dgm:t>
        <a:bodyPr/>
        <a:lstStyle/>
        <a:p>
          <a:endParaRPr lang="en-US"/>
        </a:p>
      </dgm:t>
    </dgm:pt>
    <dgm:pt modelId="{0A0933FB-B0F6-4BCB-9A8F-30F77D8BD40B}" type="sibTrans" cxnId="{E9F1BD09-D2D7-4D2F-95AB-4C49ACC9B41B}">
      <dgm:prSet/>
      <dgm:spPr/>
      <dgm:t>
        <a:bodyPr/>
        <a:lstStyle/>
        <a:p>
          <a:endParaRPr lang="en-US"/>
        </a:p>
      </dgm:t>
    </dgm:pt>
    <dgm:pt modelId="{0947362D-2CE0-42F2-B24D-2A0873FC498A}">
      <dgm:prSet/>
      <dgm:spPr/>
      <dgm:t>
        <a:bodyPr/>
        <a:lstStyle/>
        <a:p>
          <a:r>
            <a:rPr lang="en-US" dirty="0"/>
            <a:t>6. Satisfaction Metrics</a:t>
          </a:r>
        </a:p>
      </dgm:t>
    </dgm:pt>
    <dgm:pt modelId="{7E8CF2E4-2AB0-4A7B-B69A-74E7250A7271}" type="parTrans" cxnId="{56D42801-4A83-4DE3-B142-E0027BCF14B1}">
      <dgm:prSet/>
      <dgm:spPr/>
      <dgm:t>
        <a:bodyPr/>
        <a:lstStyle/>
        <a:p>
          <a:endParaRPr lang="en-US"/>
        </a:p>
      </dgm:t>
    </dgm:pt>
    <dgm:pt modelId="{92AB2B05-4FBF-4867-AE57-D5491EDAE5F3}" type="sibTrans" cxnId="{56D42801-4A83-4DE3-B142-E0027BCF14B1}">
      <dgm:prSet/>
      <dgm:spPr/>
      <dgm:t>
        <a:bodyPr/>
        <a:lstStyle/>
        <a:p>
          <a:endParaRPr lang="en-US"/>
        </a:p>
      </dgm:t>
    </dgm:pt>
    <dgm:pt modelId="{785E9BBA-73BD-4B61-AE09-426EC5A0CA66}">
      <dgm:prSet/>
      <dgm:spPr/>
      <dgm:t>
        <a:bodyPr/>
        <a:lstStyle/>
        <a:p>
          <a:r>
            <a:rPr lang="en-US" dirty="0"/>
            <a:t>7. Model Performance</a:t>
          </a:r>
        </a:p>
      </dgm:t>
    </dgm:pt>
    <dgm:pt modelId="{CDF90171-1AAE-4759-B98E-5874F667BF8C}" type="parTrans" cxnId="{295B466D-7E61-404C-8B62-34D098158898}">
      <dgm:prSet/>
      <dgm:spPr/>
      <dgm:t>
        <a:bodyPr/>
        <a:lstStyle/>
        <a:p>
          <a:endParaRPr lang="en-US"/>
        </a:p>
      </dgm:t>
    </dgm:pt>
    <dgm:pt modelId="{6C16ACEB-6750-4D4C-999D-135DEB46D232}" type="sibTrans" cxnId="{295B466D-7E61-404C-8B62-34D098158898}">
      <dgm:prSet/>
      <dgm:spPr/>
      <dgm:t>
        <a:bodyPr/>
        <a:lstStyle/>
        <a:p>
          <a:endParaRPr lang="en-US"/>
        </a:p>
      </dgm:t>
    </dgm:pt>
    <dgm:pt modelId="{00AB1E2B-0F51-42E9-9563-D4B585C6E010}">
      <dgm:prSet/>
      <dgm:spPr/>
      <dgm:t>
        <a:bodyPr/>
        <a:lstStyle/>
        <a:p>
          <a:r>
            <a:rPr lang="en-US" dirty="0"/>
            <a:t>8. Churn Risk Distribution</a:t>
          </a:r>
        </a:p>
      </dgm:t>
    </dgm:pt>
    <dgm:pt modelId="{94A20C97-77B4-48F3-B999-90CF55745007}" type="parTrans" cxnId="{BAD3B15E-BDE0-4296-BD94-D6616A45E9CC}">
      <dgm:prSet/>
      <dgm:spPr/>
      <dgm:t>
        <a:bodyPr/>
        <a:lstStyle/>
        <a:p>
          <a:endParaRPr lang="en-US"/>
        </a:p>
      </dgm:t>
    </dgm:pt>
    <dgm:pt modelId="{8A42F6A4-6113-45CA-8C18-13CBF8C5EC77}" type="sibTrans" cxnId="{BAD3B15E-BDE0-4296-BD94-D6616A45E9CC}">
      <dgm:prSet/>
      <dgm:spPr/>
      <dgm:t>
        <a:bodyPr/>
        <a:lstStyle/>
        <a:p>
          <a:endParaRPr lang="en-US"/>
        </a:p>
      </dgm:t>
    </dgm:pt>
    <dgm:pt modelId="{8EF98219-2CEB-4FF0-8F08-469441F74026}">
      <dgm:prSet/>
      <dgm:spPr/>
      <dgm:t>
        <a:bodyPr/>
        <a:lstStyle/>
        <a:p>
          <a:r>
            <a:rPr lang="en-US" dirty="0"/>
            <a:t>9. Recommendation ROI</a:t>
          </a:r>
        </a:p>
      </dgm:t>
    </dgm:pt>
    <dgm:pt modelId="{39C959DA-339D-4940-89EB-624765EC8335}" type="parTrans" cxnId="{3B8DE256-659D-4B58-948C-B0980B1C065C}">
      <dgm:prSet/>
      <dgm:spPr/>
      <dgm:t>
        <a:bodyPr/>
        <a:lstStyle/>
        <a:p>
          <a:endParaRPr lang="en-US"/>
        </a:p>
      </dgm:t>
    </dgm:pt>
    <dgm:pt modelId="{CFE9367D-1726-4CF7-B11C-AEB7162F14AC}" type="sibTrans" cxnId="{3B8DE256-659D-4B58-948C-B0980B1C065C}">
      <dgm:prSet/>
      <dgm:spPr/>
      <dgm:t>
        <a:bodyPr/>
        <a:lstStyle/>
        <a:p>
          <a:endParaRPr lang="en-US"/>
        </a:p>
      </dgm:t>
    </dgm:pt>
    <dgm:pt modelId="{F5BB5AFC-C78A-44D6-9DF8-87D3D80F76D5}" type="pres">
      <dgm:prSet presAssocID="{AF28C315-D26D-4AA8-9C67-EC6FB2F913F1}" presName="diagram" presStyleCnt="0">
        <dgm:presLayoutVars>
          <dgm:dir/>
          <dgm:resizeHandles val="exact"/>
        </dgm:presLayoutVars>
      </dgm:prSet>
      <dgm:spPr/>
    </dgm:pt>
    <dgm:pt modelId="{85276B34-2931-4BDB-BDA4-68E619BDF682}" type="pres">
      <dgm:prSet presAssocID="{ADC679EA-585F-4CBD-8FEC-73F981F0C4F2}" presName="node" presStyleLbl="node1" presStyleIdx="0" presStyleCnt="16">
        <dgm:presLayoutVars>
          <dgm:bulletEnabled val="1"/>
        </dgm:presLayoutVars>
      </dgm:prSet>
      <dgm:spPr/>
    </dgm:pt>
    <dgm:pt modelId="{302CF011-FF1B-4FE9-AE6F-3FB045CB4623}" type="pres">
      <dgm:prSet presAssocID="{1C9BAAF9-289A-4FDF-A49E-2273D2832AB1}" presName="sibTrans" presStyleCnt="0"/>
      <dgm:spPr/>
    </dgm:pt>
    <dgm:pt modelId="{5BAAE1FB-A6A6-4F6B-926F-B72BB30E174E}" type="pres">
      <dgm:prSet presAssocID="{C5ABDC8D-B6CF-45E6-BDD6-F59A9270A0A7}" presName="node" presStyleLbl="node1" presStyleIdx="1" presStyleCnt="16">
        <dgm:presLayoutVars>
          <dgm:bulletEnabled val="1"/>
        </dgm:presLayoutVars>
      </dgm:prSet>
      <dgm:spPr/>
    </dgm:pt>
    <dgm:pt modelId="{AD90BA2F-25E1-4D7A-82AA-EF820A4DBA14}" type="pres">
      <dgm:prSet presAssocID="{0FABBE05-6F27-4690-AFD5-4327F661E0B9}" presName="sibTrans" presStyleCnt="0"/>
      <dgm:spPr/>
    </dgm:pt>
    <dgm:pt modelId="{209F1B8A-4572-4975-8CC2-E28604A457EB}" type="pres">
      <dgm:prSet presAssocID="{B65DF6B7-E938-48DE-A450-5EF2C6009D29}" presName="node" presStyleLbl="node1" presStyleIdx="2" presStyleCnt="16">
        <dgm:presLayoutVars>
          <dgm:bulletEnabled val="1"/>
        </dgm:presLayoutVars>
      </dgm:prSet>
      <dgm:spPr/>
    </dgm:pt>
    <dgm:pt modelId="{A3DCFD20-A12A-4CD0-873C-65E880625FC9}" type="pres">
      <dgm:prSet presAssocID="{5E636116-6720-4BA1-B940-C4AC10DF752F}" presName="sibTrans" presStyleCnt="0"/>
      <dgm:spPr/>
    </dgm:pt>
    <dgm:pt modelId="{75F6A317-A1D7-4F58-89FC-016C72F89F3B}" type="pres">
      <dgm:prSet presAssocID="{A61ABC41-6EE5-4CF0-81CA-B05498FCC08E}" presName="node" presStyleLbl="node1" presStyleIdx="3" presStyleCnt="16">
        <dgm:presLayoutVars>
          <dgm:bulletEnabled val="1"/>
        </dgm:presLayoutVars>
      </dgm:prSet>
      <dgm:spPr/>
    </dgm:pt>
    <dgm:pt modelId="{243052F5-EE27-4407-BD53-C597AF97EA31}" type="pres">
      <dgm:prSet presAssocID="{93F4FE84-F720-40D1-B576-5BB4B11E3128}" presName="sibTrans" presStyleCnt="0"/>
      <dgm:spPr/>
    </dgm:pt>
    <dgm:pt modelId="{DD149A54-5B24-4EAB-93BD-19C92BE112B8}" type="pres">
      <dgm:prSet presAssocID="{9C88C7F0-324D-4081-84CF-1FECFE0045F6}" presName="node" presStyleLbl="node1" presStyleIdx="4" presStyleCnt="16">
        <dgm:presLayoutVars>
          <dgm:bulletEnabled val="1"/>
        </dgm:presLayoutVars>
      </dgm:prSet>
      <dgm:spPr/>
    </dgm:pt>
    <dgm:pt modelId="{B62689A0-8C3C-4D6D-911D-5C62772D7F41}" type="pres">
      <dgm:prSet presAssocID="{85CE7E1A-FBBC-410E-A092-78B68C2825DD}" presName="sibTrans" presStyleCnt="0"/>
      <dgm:spPr/>
    </dgm:pt>
    <dgm:pt modelId="{75CAED77-F953-43B4-BCDB-B63DBBFB48B4}" type="pres">
      <dgm:prSet presAssocID="{8C802268-B05D-437D-9F35-B1CF530CF3B8}" presName="node" presStyleLbl="node1" presStyleIdx="5" presStyleCnt="16">
        <dgm:presLayoutVars>
          <dgm:bulletEnabled val="1"/>
        </dgm:presLayoutVars>
      </dgm:prSet>
      <dgm:spPr/>
    </dgm:pt>
    <dgm:pt modelId="{7AD22059-F4DB-4672-9D36-442CF961353C}" type="pres">
      <dgm:prSet presAssocID="{F442800E-1A87-4A89-A41F-BEA23823C7EC}" presName="sibTrans" presStyleCnt="0"/>
      <dgm:spPr/>
    </dgm:pt>
    <dgm:pt modelId="{8C823BA1-C5FB-4EF5-BCBB-881CD75CFA8C}" type="pres">
      <dgm:prSet presAssocID="{88ABE16A-943D-4C89-88E4-AE5B03777DF8}" presName="node" presStyleLbl="node1" presStyleIdx="6" presStyleCnt="16">
        <dgm:presLayoutVars>
          <dgm:bulletEnabled val="1"/>
        </dgm:presLayoutVars>
      </dgm:prSet>
      <dgm:spPr/>
    </dgm:pt>
    <dgm:pt modelId="{093BD60D-A6EE-4E60-8ED1-CA5840B7A30A}" type="pres">
      <dgm:prSet presAssocID="{89677D75-D9C0-4CC7-AB60-A1DD1EF80143}" presName="sibTrans" presStyleCnt="0"/>
      <dgm:spPr/>
    </dgm:pt>
    <dgm:pt modelId="{E0DBB0D9-3BED-4985-BFBC-7943A4B8A1DC}" type="pres">
      <dgm:prSet presAssocID="{994EA808-FB33-407C-9991-4E62BFC5E53D}" presName="node" presStyleLbl="node1" presStyleIdx="7" presStyleCnt="16">
        <dgm:presLayoutVars>
          <dgm:bulletEnabled val="1"/>
        </dgm:presLayoutVars>
      </dgm:prSet>
      <dgm:spPr/>
    </dgm:pt>
    <dgm:pt modelId="{57D65EE8-2F98-41B4-B02F-167B70F44318}" type="pres">
      <dgm:prSet presAssocID="{42F7A39E-F3D1-42B1-A485-5D7F450F4AC3}" presName="sibTrans" presStyleCnt="0"/>
      <dgm:spPr/>
    </dgm:pt>
    <dgm:pt modelId="{3F569FBD-7E03-49EB-BA17-477A7BFEE214}" type="pres">
      <dgm:prSet presAssocID="{8CBFBE50-4AD2-4E6D-9241-97F8B01BE739}" presName="node" presStyleLbl="node1" presStyleIdx="8" presStyleCnt="16">
        <dgm:presLayoutVars>
          <dgm:bulletEnabled val="1"/>
        </dgm:presLayoutVars>
      </dgm:prSet>
      <dgm:spPr/>
    </dgm:pt>
    <dgm:pt modelId="{7B5905D8-70AC-4D1D-B83F-7E119895A996}" type="pres">
      <dgm:prSet presAssocID="{2FFBE65F-68B3-41E8-A3D8-58BAC595C000}" presName="sibTrans" presStyleCnt="0"/>
      <dgm:spPr/>
    </dgm:pt>
    <dgm:pt modelId="{9A0F2A23-48FE-4799-A9C6-584DE044BAA4}" type="pres">
      <dgm:prSet presAssocID="{AFBCBF37-D92C-48EE-B14E-68C73BA81477}" presName="node" presStyleLbl="node1" presStyleIdx="9" presStyleCnt="16">
        <dgm:presLayoutVars>
          <dgm:bulletEnabled val="1"/>
        </dgm:presLayoutVars>
      </dgm:prSet>
      <dgm:spPr/>
    </dgm:pt>
    <dgm:pt modelId="{27B4E657-3F77-430B-9528-3249E8E7E6C5}" type="pres">
      <dgm:prSet presAssocID="{6E725D0F-64E9-4F4D-B184-E64BC413815E}" presName="sibTrans" presStyleCnt="0"/>
      <dgm:spPr/>
    </dgm:pt>
    <dgm:pt modelId="{C5B5ECD9-3DA7-40A8-AC28-A0F2CCF49B90}" type="pres">
      <dgm:prSet presAssocID="{C1BF24FA-3391-4196-8AAA-441940FD6358}" presName="node" presStyleLbl="node1" presStyleIdx="10" presStyleCnt="16">
        <dgm:presLayoutVars>
          <dgm:bulletEnabled val="1"/>
        </dgm:presLayoutVars>
      </dgm:prSet>
      <dgm:spPr/>
    </dgm:pt>
    <dgm:pt modelId="{17FCACB7-A76A-4717-A1FD-36CC188C4CF9}" type="pres">
      <dgm:prSet presAssocID="{C468CD37-4704-4733-8752-EE8E34280DC4}" presName="sibTrans" presStyleCnt="0"/>
      <dgm:spPr/>
    </dgm:pt>
    <dgm:pt modelId="{0BB85A1B-8DCA-47B8-B231-50BDB63C4000}" type="pres">
      <dgm:prSet presAssocID="{18883DAC-5F98-4875-9FC0-F3DB2C5E23B6}" presName="node" presStyleLbl="node1" presStyleIdx="11" presStyleCnt="16">
        <dgm:presLayoutVars>
          <dgm:bulletEnabled val="1"/>
        </dgm:presLayoutVars>
      </dgm:prSet>
      <dgm:spPr/>
    </dgm:pt>
    <dgm:pt modelId="{43B74D1E-529B-470B-B120-B31A0D232130}" type="pres">
      <dgm:prSet presAssocID="{0A0933FB-B0F6-4BCB-9A8F-30F77D8BD40B}" presName="sibTrans" presStyleCnt="0"/>
      <dgm:spPr/>
    </dgm:pt>
    <dgm:pt modelId="{FB720ED1-1932-46C2-B5F1-69B851620B67}" type="pres">
      <dgm:prSet presAssocID="{0947362D-2CE0-42F2-B24D-2A0873FC498A}" presName="node" presStyleLbl="node1" presStyleIdx="12" presStyleCnt="16">
        <dgm:presLayoutVars>
          <dgm:bulletEnabled val="1"/>
        </dgm:presLayoutVars>
      </dgm:prSet>
      <dgm:spPr/>
    </dgm:pt>
    <dgm:pt modelId="{5AD45EE9-8D87-45B4-B4E7-76EC37283817}" type="pres">
      <dgm:prSet presAssocID="{92AB2B05-4FBF-4867-AE57-D5491EDAE5F3}" presName="sibTrans" presStyleCnt="0"/>
      <dgm:spPr/>
    </dgm:pt>
    <dgm:pt modelId="{6A8EBBCC-08B6-4791-A0BD-93DC854EBC9C}" type="pres">
      <dgm:prSet presAssocID="{785E9BBA-73BD-4B61-AE09-426EC5A0CA66}" presName="node" presStyleLbl="node1" presStyleIdx="13" presStyleCnt="16">
        <dgm:presLayoutVars>
          <dgm:bulletEnabled val="1"/>
        </dgm:presLayoutVars>
      </dgm:prSet>
      <dgm:spPr/>
    </dgm:pt>
    <dgm:pt modelId="{D2E95A8F-5C16-4AE0-A9C2-C1A4E3158249}" type="pres">
      <dgm:prSet presAssocID="{6C16ACEB-6750-4D4C-999D-135DEB46D232}" presName="sibTrans" presStyleCnt="0"/>
      <dgm:spPr/>
    </dgm:pt>
    <dgm:pt modelId="{0F977172-52C4-4F8F-A748-197D39850FF6}" type="pres">
      <dgm:prSet presAssocID="{00AB1E2B-0F51-42E9-9563-D4B585C6E010}" presName="node" presStyleLbl="node1" presStyleIdx="14" presStyleCnt="16">
        <dgm:presLayoutVars>
          <dgm:bulletEnabled val="1"/>
        </dgm:presLayoutVars>
      </dgm:prSet>
      <dgm:spPr/>
    </dgm:pt>
    <dgm:pt modelId="{4C603547-90BE-479D-A85A-C721BD7AAB97}" type="pres">
      <dgm:prSet presAssocID="{8A42F6A4-6113-45CA-8C18-13CBF8C5EC77}" presName="sibTrans" presStyleCnt="0"/>
      <dgm:spPr/>
    </dgm:pt>
    <dgm:pt modelId="{342A65DA-4A3A-48AA-AFAE-E002D425AFE5}" type="pres">
      <dgm:prSet presAssocID="{8EF98219-2CEB-4FF0-8F08-469441F74026}" presName="node" presStyleLbl="node1" presStyleIdx="15" presStyleCnt="16">
        <dgm:presLayoutVars>
          <dgm:bulletEnabled val="1"/>
        </dgm:presLayoutVars>
      </dgm:prSet>
      <dgm:spPr/>
    </dgm:pt>
  </dgm:ptLst>
  <dgm:cxnLst>
    <dgm:cxn modelId="{56D42801-4A83-4DE3-B142-E0027BCF14B1}" srcId="{AF28C315-D26D-4AA8-9C67-EC6FB2F913F1}" destId="{0947362D-2CE0-42F2-B24D-2A0873FC498A}" srcOrd="12" destOrd="0" parTransId="{7E8CF2E4-2AB0-4A7B-B69A-74E7250A7271}" sibTransId="{92AB2B05-4FBF-4867-AE57-D5491EDAE5F3}"/>
    <dgm:cxn modelId="{E9F1BD09-D2D7-4D2F-95AB-4C49ACC9B41B}" srcId="{AF28C315-D26D-4AA8-9C67-EC6FB2F913F1}" destId="{18883DAC-5F98-4875-9FC0-F3DB2C5E23B6}" srcOrd="11" destOrd="0" parTransId="{172DCCB6-CE26-47A2-9D08-F5AAC88C02D7}" sibTransId="{0A0933FB-B0F6-4BCB-9A8F-30F77D8BD40B}"/>
    <dgm:cxn modelId="{F4410819-D257-451B-AA9B-83C60C53E9A0}" srcId="{AF28C315-D26D-4AA8-9C67-EC6FB2F913F1}" destId="{88ABE16A-943D-4C89-88E4-AE5B03777DF8}" srcOrd="6" destOrd="0" parTransId="{E2308927-33E9-46D5-B05F-EAA5C6A11B11}" sibTransId="{89677D75-D9C0-4CC7-AB60-A1DD1EF80143}"/>
    <dgm:cxn modelId="{A54F3C1E-D0DC-4A55-9FBB-019FFA56E80D}" srcId="{AF28C315-D26D-4AA8-9C67-EC6FB2F913F1}" destId="{ADC679EA-585F-4CBD-8FEC-73F981F0C4F2}" srcOrd="0" destOrd="0" parTransId="{4597DD65-9E97-47E1-9549-15F88B430828}" sibTransId="{1C9BAAF9-289A-4FDF-A49E-2273D2832AB1}"/>
    <dgm:cxn modelId="{D5DFFC26-0EA3-4526-8952-07CED2B2819B}" type="presOf" srcId="{C5ABDC8D-B6CF-45E6-BDD6-F59A9270A0A7}" destId="{5BAAE1FB-A6A6-4F6B-926F-B72BB30E174E}" srcOrd="0" destOrd="0" presId="urn:microsoft.com/office/officeart/2005/8/layout/default"/>
    <dgm:cxn modelId="{F3DBEA2B-B1AC-42EA-8AB9-9B0E903DB960}" type="presOf" srcId="{AF28C315-D26D-4AA8-9C67-EC6FB2F913F1}" destId="{F5BB5AFC-C78A-44D6-9DF8-87D3D80F76D5}" srcOrd="0" destOrd="0" presId="urn:microsoft.com/office/officeart/2005/8/layout/default"/>
    <dgm:cxn modelId="{0EAD583B-1D49-4BAB-9F71-3CFD531CB4CD}" type="presOf" srcId="{0947362D-2CE0-42F2-B24D-2A0873FC498A}" destId="{FB720ED1-1932-46C2-B5F1-69B851620B67}" srcOrd="0" destOrd="0" presId="urn:microsoft.com/office/officeart/2005/8/layout/default"/>
    <dgm:cxn modelId="{4CEA643E-F49D-47D5-9436-D38E4B1535A7}" type="presOf" srcId="{ADC679EA-585F-4CBD-8FEC-73F981F0C4F2}" destId="{85276B34-2931-4BDB-BDA4-68E619BDF682}" srcOrd="0" destOrd="0" presId="urn:microsoft.com/office/officeart/2005/8/layout/default"/>
    <dgm:cxn modelId="{BAD3B15E-BDE0-4296-BD94-D6616A45E9CC}" srcId="{AF28C315-D26D-4AA8-9C67-EC6FB2F913F1}" destId="{00AB1E2B-0F51-42E9-9563-D4B585C6E010}" srcOrd="14" destOrd="0" parTransId="{94A20C97-77B4-48F3-B999-90CF55745007}" sibTransId="{8A42F6A4-6113-45CA-8C18-13CBF8C5EC77}"/>
    <dgm:cxn modelId="{530F7444-4208-4707-AF1B-4F15EB2D43D5}" srcId="{AF28C315-D26D-4AA8-9C67-EC6FB2F913F1}" destId="{994EA808-FB33-407C-9991-4E62BFC5E53D}" srcOrd="7" destOrd="0" parTransId="{B0F05127-04B7-438C-84D1-502FAF32081A}" sibTransId="{42F7A39E-F3D1-42B1-A485-5D7F450F4AC3}"/>
    <dgm:cxn modelId="{DD4DD46B-22DC-4BB2-85FC-5100AA7C1A00}" type="presOf" srcId="{00AB1E2B-0F51-42E9-9563-D4B585C6E010}" destId="{0F977172-52C4-4F8F-A748-197D39850FF6}" srcOrd="0" destOrd="0" presId="urn:microsoft.com/office/officeart/2005/8/layout/default"/>
    <dgm:cxn modelId="{4FF6604C-58CD-40A1-93D3-7915719CA925}" type="presOf" srcId="{C1BF24FA-3391-4196-8AAA-441940FD6358}" destId="{C5B5ECD9-3DA7-40A8-AC28-A0F2CCF49B90}" srcOrd="0" destOrd="0" presId="urn:microsoft.com/office/officeart/2005/8/layout/default"/>
    <dgm:cxn modelId="{295B466D-7E61-404C-8B62-34D098158898}" srcId="{AF28C315-D26D-4AA8-9C67-EC6FB2F913F1}" destId="{785E9BBA-73BD-4B61-AE09-426EC5A0CA66}" srcOrd="13" destOrd="0" parTransId="{CDF90171-1AAE-4759-B98E-5874F667BF8C}" sibTransId="{6C16ACEB-6750-4D4C-999D-135DEB46D232}"/>
    <dgm:cxn modelId="{40314A52-880C-4DA5-B166-A8BD69E7C507}" type="presOf" srcId="{9C88C7F0-324D-4081-84CF-1FECFE0045F6}" destId="{DD149A54-5B24-4EAB-93BD-19C92BE112B8}" srcOrd="0" destOrd="0" presId="urn:microsoft.com/office/officeart/2005/8/layout/default"/>
    <dgm:cxn modelId="{3B8DE256-659D-4B58-948C-B0980B1C065C}" srcId="{AF28C315-D26D-4AA8-9C67-EC6FB2F913F1}" destId="{8EF98219-2CEB-4FF0-8F08-469441F74026}" srcOrd="15" destOrd="0" parTransId="{39C959DA-339D-4940-89EB-624765EC8335}" sibTransId="{CFE9367D-1726-4CF7-B11C-AEB7162F14AC}"/>
    <dgm:cxn modelId="{9E6FDE7B-F756-4A31-9044-E60AC07306DA}" type="presOf" srcId="{994EA808-FB33-407C-9991-4E62BFC5E53D}" destId="{E0DBB0D9-3BED-4985-BFBC-7943A4B8A1DC}" srcOrd="0" destOrd="0" presId="urn:microsoft.com/office/officeart/2005/8/layout/default"/>
    <dgm:cxn modelId="{5F40B67C-2D56-41D3-981C-6B08842312AB}" type="presOf" srcId="{18883DAC-5F98-4875-9FC0-F3DB2C5E23B6}" destId="{0BB85A1B-8DCA-47B8-B231-50BDB63C4000}" srcOrd="0" destOrd="0" presId="urn:microsoft.com/office/officeart/2005/8/layout/default"/>
    <dgm:cxn modelId="{FB0C7489-3760-454F-8BB9-47703707DCC6}" type="presOf" srcId="{8C802268-B05D-437D-9F35-B1CF530CF3B8}" destId="{75CAED77-F953-43B4-BCDB-B63DBBFB48B4}" srcOrd="0" destOrd="0" presId="urn:microsoft.com/office/officeart/2005/8/layout/default"/>
    <dgm:cxn modelId="{46D8198F-FBAA-4210-98A1-EF7E59032912}" srcId="{AF28C315-D26D-4AA8-9C67-EC6FB2F913F1}" destId="{B65DF6B7-E938-48DE-A450-5EF2C6009D29}" srcOrd="2" destOrd="0" parTransId="{660528C0-EAC4-4CB2-AAF3-5667A8132D8D}" sibTransId="{5E636116-6720-4BA1-B940-C4AC10DF752F}"/>
    <dgm:cxn modelId="{32C6EDA6-16B2-4038-BC7F-A5DC32F5F5CE}" type="presOf" srcId="{785E9BBA-73BD-4B61-AE09-426EC5A0CA66}" destId="{6A8EBBCC-08B6-4791-A0BD-93DC854EBC9C}" srcOrd="0" destOrd="0" presId="urn:microsoft.com/office/officeart/2005/8/layout/default"/>
    <dgm:cxn modelId="{282A06AC-51C4-4EBC-BD57-CBE52A5CCBD6}" srcId="{AF28C315-D26D-4AA8-9C67-EC6FB2F913F1}" destId="{AFBCBF37-D92C-48EE-B14E-68C73BA81477}" srcOrd="9" destOrd="0" parTransId="{E218B540-9584-4325-9B99-079FC417FA73}" sibTransId="{6E725D0F-64E9-4F4D-B184-E64BC413815E}"/>
    <dgm:cxn modelId="{61640FAC-B622-4486-96F3-D03A21E7B4CE}" type="presOf" srcId="{A61ABC41-6EE5-4CF0-81CA-B05498FCC08E}" destId="{75F6A317-A1D7-4F58-89FC-016C72F89F3B}" srcOrd="0" destOrd="0" presId="urn:microsoft.com/office/officeart/2005/8/layout/default"/>
    <dgm:cxn modelId="{3E5352AE-DF81-40AD-98F1-75D3372AB948}" type="presOf" srcId="{8EF98219-2CEB-4FF0-8F08-469441F74026}" destId="{342A65DA-4A3A-48AA-AFAE-E002D425AFE5}" srcOrd="0" destOrd="0" presId="urn:microsoft.com/office/officeart/2005/8/layout/default"/>
    <dgm:cxn modelId="{5947B9B5-7F87-4A59-81B8-922DDB24FBE9}" srcId="{AF28C315-D26D-4AA8-9C67-EC6FB2F913F1}" destId="{8CBFBE50-4AD2-4E6D-9241-97F8B01BE739}" srcOrd="8" destOrd="0" parTransId="{FA9EE072-A5F1-4FBE-BBFC-21FAD7092B32}" sibTransId="{2FFBE65F-68B3-41E8-A3D8-58BAC595C000}"/>
    <dgm:cxn modelId="{AAF20BBB-3E2B-4466-A476-B52C427C33F3}" srcId="{AF28C315-D26D-4AA8-9C67-EC6FB2F913F1}" destId="{C5ABDC8D-B6CF-45E6-BDD6-F59A9270A0A7}" srcOrd="1" destOrd="0" parTransId="{00A89D6A-F7F4-407A-92CB-398A32A54229}" sibTransId="{0FABBE05-6F27-4690-AFD5-4327F661E0B9}"/>
    <dgm:cxn modelId="{18246EC2-03A5-4152-9AD1-758CC89199C4}" srcId="{AF28C315-D26D-4AA8-9C67-EC6FB2F913F1}" destId="{A61ABC41-6EE5-4CF0-81CA-B05498FCC08E}" srcOrd="3" destOrd="0" parTransId="{8BFCE5D0-85EB-4AEE-9892-B077395583B2}" sibTransId="{93F4FE84-F720-40D1-B576-5BB4B11E3128}"/>
    <dgm:cxn modelId="{1717AAC2-EC28-4128-B5F5-7AEDFEA046CA}" srcId="{AF28C315-D26D-4AA8-9C67-EC6FB2F913F1}" destId="{8C802268-B05D-437D-9F35-B1CF530CF3B8}" srcOrd="5" destOrd="0" parTransId="{519AFBF7-E810-4C65-9F91-D01259BBD5CE}" sibTransId="{F442800E-1A87-4A89-A41F-BEA23823C7EC}"/>
    <dgm:cxn modelId="{01740BCD-9044-459C-A07D-95B50A8143D3}" type="presOf" srcId="{AFBCBF37-D92C-48EE-B14E-68C73BA81477}" destId="{9A0F2A23-48FE-4799-A9C6-584DE044BAA4}" srcOrd="0" destOrd="0" presId="urn:microsoft.com/office/officeart/2005/8/layout/default"/>
    <dgm:cxn modelId="{7F16ACD5-99AD-4FCD-8B73-B5E4BD9B14CD}" srcId="{AF28C315-D26D-4AA8-9C67-EC6FB2F913F1}" destId="{9C88C7F0-324D-4081-84CF-1FECFE0045F6}" srcOrd="4" destOrd="0" parTransId="{80FB0467-6858-4CD4-A4AB-C6A4D4BF6F88}" sibTransId="{85CE7E1A-FBBC-410E-A092-78B68C2825DD}"/>
    <dgm:cxn modelId="{08A424E5-C5B9-4B76-9635-128FCCA99A55}" srcId="{AF28C315-D26D-4AA8-9C67-EC6FB2F913F1}" destId="{C1BF24FA-3391-4196-8AAA-441940FD6358}" srcOrd="10" destOrd="0" parTransId="{626E4DFA-A0C2-41F9-B7EC-7070F7DF1440}" sibTransId="{C468CD37-4704-4733-8752-EE8E34280DC4}"/>
    <dgm:cxn modelId="{5FD90EEA-24E0-4A31-9CEB-92EBF471F1E9}" type="presOf" srcId="{88ABE16A-943D-4C89-88E4-AE5B03777DF8}" destId="{8C823BA1-C5FB-4EF5-BCBB-881CD75CFA8C}" srcOrd="0" destOrd="0" presId="urn:microsoft.com/office/officeart/2005/8/layout/default"/>
    <dgm:cxn modelId="{7F302EFD-E473-46A0-84C2-713CA5231684}" type="presOf" srcId="{8CBFBE50-4AD2-4E6D-9241-97F8B01BE739}" destId="{3F569FBD-7E03-49EB-BA17-477A7BFEE214}" srcOrd="0" destOrd="0" presId="urn:microsoft.com/office/officeart/2005/8/layout/default"/>
    <dgm:cxn modelId="{735DFDFD-370D-4056-8E54-F8A5F279D98F}" type="presOf" srcId="{B65DF6B7-E938-48DE-A450-5EF2C6009D29}" destId="{209F1B8A-4572-4975-8CC2-E28604A457EB}" srcOrd="0" destOrd="0" presId="urn:microsoft.com/office/officeart/2005/8/layout/default"/>
    <dgm:cxn modelId="{E8860E3B-FBF0-4D95-AF24-252057AAA717}" type="presParOf" srcId="{F5BB5AFC-C78A-44D6-9DF8-87D3D80F76D5}" destId="{85276B34-2931-4BDB-BDA4-68E619BDF682}" srcOrd="0" destOrd="0" presId="urn:microsoft.com/office/officeart/2005/8/layout/default"/>
    <dgm:cxn modelId="{5523A8A5-CBF5-4DD4-937F-C3DBA8E7926B}" type="presParOf" srcId="{F5BB5AFC-C78A-44D6-9DF8-87D3D80F76D5}" destId="{302CF011-FF1B-4FE9-AE6F-3FB045CB4623}" srcOrd="1" destOrd="0" presId="urn:microsoft.com/office/officeart/2005/8/layout/default"/>
    <dgm:cxn modelId="{23A797A5-4C04-4498-B0B2-45B553AB083D}" type="presParOf" srcId="{F5BB5AFC-C78A-44D6-9DF8-87D3D80F76D5}" destId="{5BAAE1FB-A6A6-4F6B-926F-B72BB30E174E}" srcOrd="2" destOrd="0" presId="urn:microsoft.com/office/officeart/2005/8/layout/default"/>
    <dgm:cxn modelId="{B0F84EFF-A9EF-44DC-BA2A-1731C656463A}" type="presParOf" srcId="{F5BB5AFC-C78A-44D6-9DF8-87D3D80F76D5}" destId="{AD90BA2F-25E1-4D7A-82AA-EF820A4DBA14}" srcOrd="3" destOrd="0" presId="urn:microsoft.com/office/officeart/2005/8/layout/default"/>
    <dgm:cxn modelId="{3B84F453-DAF7-411F-BC9C-007C981A37B1}" type="presParOf" srcId="{F5BB5AFC-C78A-44D6-9DF8-87D3D80F76D5}" destId="{209F1B8A-4572-4975-8CC2-E28604A457EB}" srcOrd="4" destOrd="0" presId="urn:microsoft.com/office/officeart/2005/8/layout/default"/>
    <dgm:cxn modelId="{CA550EC5-43C3-45CF-908F-EBE19E31FC4C}" type="presParOf" srcId="{F5BB5AFC-C78A-44D6-9DF8-87D3D80F76D5}" destId="{A3DCFD20-A12A-4CD0-873C-65E880625FC9}" srcOrd="5" destOrd="0" presId="urn:microsoft.com/office/officeart/2005/8/layout/default"/>
    <dgm:cxn modelId="{0A5B915C-931A-438E-9624-082F7F64FA58}" type="presParOf" srcId="{F5BB5AFC-C78A-44D6-9DF8-87D3D80F76D5}" destId="{75F6A317-A1D7-4F58-89FC-016C72F89F3B}" srcOrd="6" destOrd="0" presId="urn:microsoft.com/office/officeart/2005/8/layout/default"/>
    <dgm:cxn modelId="{7B94E83E-3B45-4DC3-9C76-7B05F9C85433}" type="presParOf" srcId="{F5BB5AFC-C78A-44D6-9DF8-87D3D80F76D5}" destId="{243052F5-EE27-4407-BD53-C597AF97EA31}" srcOrd="7" destOrd="0" presId="urn:microsoft.com/office/officeart/2005/8/layout/default"/>
    <dgm:cxn modelId="{25DFE1D9-37DF-4682-B705-281B6EA4D615}" type="presParOf" srcId="{F5BB5AFC-C78A-44D6-9DF8-87D3D80F76D5}" destId="{DD149A54-5B24-4EAB-93BD-19C92BE112B8}" srcOrd="8" destOrd="0" presId="urn:microsoft.com/office/officeart/2005/8/layout/default"/>
    <dgm:cxn modelId="{2CF64FB0-3063-4803-8917-DFCCF3043B5D}" type="presParOf" srcId="{F5BB5AFC-C78A-44D6-9DF8-87D3D80F76D5}" destId="{B62689A0-8C3C-4D6D-911D-5C62772D7F41}" srcOrd="9" destOrd="0" presId="urn:microsoft.com/office/officeart/2005/8/layout/default"/>
    <dgm:cxn modelId="{9AB9E1D0-F4B2-4B21-A856-483AE9888545}" type="presParOf" srcId="{F5BB5AFC-C78A-44D6-9DF8-87D3D80F76D5}" destId="{75CAED77-F953-43B4-BCDB-B63DBBFB48B4}" srcOrd="10" destOrd="0" presId="urn:microsoft.com/office/officeart/2005/8/layout/default"/>
    <dgm:cxn modelId="{65CAA43A-0816-43E4-8B04-90342CCC888A}" type="presParOf" srcId="{F5BB5AFC-C78A-44D6-9DF8-87D3D80F76D5}" destId="{7AD22059-F4DB-4672-9D36-442CF961353C}" srcOrd="11" destOrd="0" presId="urn:microsoft.com/office/officeart/2005/8/layout/default"/>
    <dgm:cxn modelId="{6F6AB23D-B31F-4571-B13A-E7116C93752C}" type="presParOf" srcId="{F5BB5AFC-C78A-44D6-9DF8-87D3D80F76D5}" destId="{8C823BA1-C5FB-4EF5-BCBB-881CD75CFA8C}" srcOrd="12" destOrd="0" presId="urn:microsoft.com/office/officeart/2005/8/layout/default"/>
    <dgm:cxn modelId="{16087B0A-5E4E-4157-A644-591DA3F60DB6}" type="presParOf" srcId="{F5BB5AFC-C78A-44D6-9DF8-87D3D80F76D5}" destId="{093BD60D-A6EE-4E60-8ED1-CA5840B7A30A}" srcOrd="13" destOrd="0" presId="urn:microsoft.com/office/officeart/2005/8/layout/default"/>
    <dgm:cxn modelId="{DE48EE3F-3D76-4259-B71C-B8DF4D31D609}" type="presParOf" srcId="{F5BB5AFC-C78A-44D6-9DF8-87D3D80F76D5}" destId="{E0DBB0D9-3BED-4985-BFBC-7943A4B8A1DC}" srcOrd="14" destOrd="0" presId="urn:microsoft.com/office/officeart/2005/8/layout/default"/>
    <dgm:cxn modelId="{9DA14B4A-6EC1-41D0-9F1F-56D4F73091A0}" type="presParOf" srcId="{F5BB5AFC-C78A-44D6-9DF8-87D3D80F76D5}" destId="{57D65EE8-2F98-41B4-B02F-167B70F44318}" srcOrd="15" destOrd="0" presId="urn:microsoft.com/office/officeart/2005/8/layout/default"/>
    <dgm:cxn modelId="{ECC9AD8F-B166-4BDA-9442-5BCCDC0ADC45}" type="presParOf" srcId="{F5BB5AFC-C78A-44D6-9DF8-87D3D80F76D5}" destId="{3F569FBD-7E03-49EB-BA17-477A7BFEE214}" srcOrd="16" destOrd="0" presId="urn:microsoft.com/office/officeart/2005/8/layout/default"/>
    <dgm:cxn modelId="{509CB903-2FFB-4C6A-91BE-9239FBF8CA71}" type="presParOf" srcId="{F5BB5AFC-C78A-44D6-9DF8-87D3D80F76D5}" destId="{7B5905D8-70AC-4D1D-B83F-7E119895A996}" srcOrd="17" destOrd="0" presId="urn:microsoft.com/office/officeart/2005/8/layout/default"/>
    <dgm:cxn modelId="{D129C710-58DC-4EF4-870F-AD342FFE6E7F}" type="presParOf" srcId="{F5BB5AFC-C78A-44D6-9DF8-87D3D80F76D5}" destId="{9A0F2A23-48FE-4799-A9C6-584DE044BAA4}" srcOrd="18" destOrd="0" presId="urn:microsoft.com/office/officeart/2005/8/layout/default"/>
    <dgm:cxn modelId="{A64DA83E-D5CD-472A-87AD-3E9B2BDE7147}" type="presParOf" srcId="{F5BB5AFC-C78A-44D6-9DF8-87D3D80F76D5}" destId="{27B4E657-3F77-430B-9528-3249E8E7E6C5}" srcOrd="19" destOrd="0" presId="urn:microsoft.com/office/officeart/2005/8/layout/default"/>
    <dgm:cxn modelId="{26671878-2FEB-463F-9B6A-D13DAB8205C4}" type="presParOf" srcId="{F5BB5AFC-C78A-44D6-9DF8-87D3D80F76D5}" destId="{C5B5ECD9-3DA7-40A8-AC28-A0F2CCF49B90}" srcOrd="20" destOrd="0" presId="urn:microsoft.com/office/officeart/2005/8/layout/default"/>
    <dgm:cxn modelId="{A714673D-74B7-430D-8ED9-C515B603B44D}" type="presParOf" srcId="{F5BB5AFC-C78A-44D6-9DF8-87D3D80F76D5}" destId="{17FCACB7-A76A-4717-A1FD-36CC188C4CF9}" srcOrd="21" destOrd="0" presId="urn:microsoft.com/office/officeart/2005/8/layout/default"/>
    <dgm:cxn modelId="{C669E052-8BCB-492C-BF5D-0BF718AF862F}" type="presParOf" srcId="{F5BB5AFC-C78A-44D6-9DF8-87D3D80F76D5}" destId="{0BB85A1B-8DCA-47B8-B231-50BDB63C4000}" srcOrd="22" destOrd="0" presId="urn:microsoft.com/office/officeart/2005/8/layout/default"/>
    <dgm:cxn modelId="{B9E22821-D6E7-4A22-B19D-5F97D3E48599}" type="presParOf" srcId="{F5BB5AFC-C78A-44D6-9DF8-87D3D80F76D5}" destId="{43B74D1E-529B-470B-B120-B31A0D232130}" srcOrd="23" destOrd="0" presId="urn:microsoft.com/office/officeart/2005/8/layout/default"/>
    <dgm:cxn modelId="{76664BBA-BB60-418E-934A-D443B29F2A60}" type="presParOf" srcId="{F5BB5AFC-C78A-44D6-9DF8-87D3D80F76D5}" destId="{FB720ED1-1932-46C2-B5F1-69B851620B67}" srcOrd="24" destOrd="0" presId="urn:microsoft.com/office/officeart/2005/8/layout/default"/>
    <dgm:cxn modelId="{E265F3F5-37A4-4F40-A168-8F75D223DF3A}" type="presParOf" srcId="{F5BB5AFC-C78A-44D6-9DF8-87D3D80F76D5}" destId="{5AD45EE9-8D87-45B4-B4E7-76EC37283817}" srcOrd="25" destOrd="0" presId="urn:microsoft.com/office/officeart/2005/8/layout/default"/>
    <dgm:cxn modelId="{559A43D9-2631-4A9C-B16E-75D7C1EB16A5}" type="presParOf" srcId="{F5BB5AFC-C78A-44D6-9DF8-87D3D80F76D5}" destId="{6A8EBBCC-08B6-4791-A0BD-93DC854EBC9C}" srcOrd="26" destOrd="0" presId="urn:microsoft.com/office/officeart/2005/8/layout/default"/>
    <dgm:cxn modelId="{AD6C07CD-5A5D-4E2D-8D5A-62EA395C7087}" type="presParOf" srcId="{F5BB5AFC-C78A-44D6-9DF8-87D3D80F76D5}" destId="{D2E95A8F-5C16-4AE0-A9C2-C1A4E3158249}" srcOrd="27" destOrd="0" presId="urn:microsoft.com/office/officeart/2005/8/layout/default"/>
    <dgm:cxn modelId="{0D2102FB-295B-44CE-AEBC-C6D0F17A486F}" type="presParOf" srcId="{F5BB5AFC-C78A-44D6-9DF8-87D3D80F76D5}" destId="{0F977172-52C4-4F8F-A748-197D39850FF6}" srcOrd="28" destOrd="0" presId="urn:microsoft.com/office/officeart/2005/8/layout/default"/>
    <dgm:cxn modelId="{29DC4A3A-E23D-44DA-8623-0127BE0E780C}" type="presParOf" srcId="{F5BB5AFC-C78A-44D6-9DF8-87D3D80F76D5}" destId="{4C603547-90BE-479D-A85A-C721BD7AAB97}" srcOrd="29" destOrd="0" presId="urn:microsoft.com/office/officeart/2005/8/layout/default"/>
    <dgm:cxn modelId="{ECEF3FA3-7816-43E0-BB61-95BF94272EC7}" type="presParOf" srcId="{F5BB5AFC-C78A-44D6-9DF8-87D3D80F76D5}" destId="{342A65DA-4A3A-48AA-AFAE-E002D425AFE5}" srcOrd="3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4446F5-D098-42B9-83FC-97E23E401E81}">
      <dsp:nvSpPr>
        <dsp:cNvPr id="0" name=""/>
        <dsp:cNvSpPr/>
      </dsp:nvSpPr>
      <dsp:spPr>
        <a:xfrm>
          <a:off x="71" y="663261"/>
          <a:ext cx="3278177" cy="215130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a typeface="+mn-ea"/>
              <a:cs typeface="+mn-cs"/>
            </a:rPr>
            <a:t>KEY FEATURES IMPLEMENTED: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Interactive KPI Dashboard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Revenue Trend Analysis (2022-2024)</a:t>
          </a:r>
        </a:p>
      </dsp:txBody>
      <dsp:txXfrm>
        <a:off x="71" y="663261"/>
        <a:ext cx="3278177" cy="2151303"/>
      </dsp:txXfrm>
    </dsp:sp>
    <dsp:sp modelId="{7DCF4D3B-9F85-409C-9E4F-142A83A65612}">
      <dsp:nvSpPr>
        <dsp:cNvPr id="0" name=""/>
        <dsp:cNvSpPr/>
      </dsp:nvSpPr>
      <dsp:spPr>
        <a:xfrm>
          <a:off x="3352050" y="1617413"/>
          <a:ext cx="491726" cy="243000"/>
        </a:xfrm>
        <a:prstGeom prst="rightArrow">
          <a:avLst>
            <a:gd name="adj1" fmla="val 50000"/>
            <a:gd name="adj2" fmla="val 5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18429F9-F4F0-449E-970F-28E4C614CA68}">
      <dsp:nvSpPr>
        <dsp:cNvPr id="0" name=""/>
        <dsp:cNvSpPr/>
      </dsp:nvSpPr>
      <dsp:spPr>
        <a:xfrm>
          <a:off x="3917579" y="663261"/>
          <a:ext cx="3278177" cy="2151303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ea typeface="+mn-ea"/>
              <a:cs typeface="+mn-cs"/>
            </a:rPr>
            <a:t>Customer Segmentation (Premium/Standard/Basic)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Regional Performance Comparison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Automated Periodic Reporting</a:t>
          </a:r>
          <a:br>
            <a:rPr lang="en-US" sz="1100" kern="1200">
              <a:ea typeface="+mn-ea"/>
              <a:cs typeface="+mn-cs"/>
            </a:rPr>
          </a:b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BUSINESS IMPACT: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• Real-time performance monitoring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• Historical trend identification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• Customer base understanding</a:t>
          </a:r>
          <a:br>
            <a:rPr lang="en-US" sz="1100" kern="1200">
              <a:ea typeface="+mn-ea"/>
              <a:cs typeface="+mn-cs"/>
            </a:rPr>
          </a:br>
          <a:r>
            <a:rPr lang="en-US" sz="1100" kern="1200">
              <a:ea typeface="+mn-ea"/>
              <a:cs typeface="+mn-cs"/>
            </a:rPr>
            <a:t>• Geographic market analysis</a:t>
          </a:r>
          <a:br>
            <a:rPr lang="en-US" sz="1100" kern="1200">
              <a:ea typeface="+mn-ea"/>
              <a:cs typeface="+mn-cs"/>
            </a:rPr>
          </a:br>
          <a:br>
            <a:rPr lang="en-US" sz="1100" kern="1200">
              <a:ea typeface="+mn-ea"/>
              <a:cs typeface="+mn-cs"/>
            </a:rPr>
          </a:br>
          <a:endParaRPr lang="en-US" sz="1100" kern="1200">
            <a:ea typeface="+mn-ea"/>
            <a:cs typeface="+mn-cs"/>
          </a:endParaRPr>
        </a:p>
      </dsp:txBody>
      <dsp:txXfrm>
        <a:off x="3917579" y="663261"/>
        <a:ext cx="3278177" cy="21513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276B34-2931-4BDB-BDA4-68E619BDF682}">
      <dsp:nvSpPr>
        <dsp:cNvPr id="0" name=""/>
        <dsp:cNvSpPr/>
      </dsp:nvSpPr>
      <dsp:spPr>
        <a:xfrm>
          <a:off x="1674" y="431731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Century Gothic" panose="020B0502020202020204"/>
            </a:rPr>
            <a:t>-&gt;</a:t>
          </a:r>
          <a:endParaRPr lang="en-US" sz="1100" kern="1200" dirty="0"/>
        </a:p>
      </dsp:txBody>
      <dsp:txXfrm>
        <a:off x="1674" y="431731"/>
        <a:ext cx="1328720" cy="797232"/>
      </dsp:txXfrm>
    </dsp:sp>
    <dsp:sp modelId="{5BAAE1FB-A6A6-4F6B-926F-B72BB30E174E}">
      <dsp:nvSpPr>
        <dsp:cNvPr id="0" name=""/>
        <dsp:cNvSpPr/>
      </dsp:nvSpPr>
      <dsp:spPr>
        <a:xfrm>
          <a:off x="1463266" y="431731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7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7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COMPREHENSIVE VISUALIZATION:</a:t>
          </a:r>
        </a:p>
      </dsp:txBody>
      <dsp:txXfrm>
        <a:off x="1463266" y="431731"/>
        <a:ext cx="1328720" cy="797232"/>
      </dsp:txXfrm>
    </dsp:sp>
    <dsp:sp modelId="{209F1B8A-4572-4975-8CC2-E28604A457EB}">
      <dsp:nvSpPr>
        <dsp:cNvPr id="0" name=""/>
        <dsp:cNvSpPr/>
      </dsp:nvSpPr>
      <dsp:spPr>
        <a:xfrm>
          <a:off x="2924859" y="431731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5333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5333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9 Interactive Charts &amp; Graphs</a:t>
          </a:r>
        </a:p>
      </dsp:txBody>
      <dsp:txXfrm>
        <a:off x="2924859" y="431731"/>
        <a:ext cx="1328720" cy="797232"/>
      </dsp:txXfrm>
    </dsp:sp>
    <dsp:sp modelId="{75F6A317-A1D7-4F58-89FC-016C72F89F3B}">
      <dsp:nvSpPr>
        <dsp:cNvPr id="0" name=""/>
        <dsp:cNvSpPr/>
      </dsp:nvSpPr>
      <dsp:spPr>
        <a:xfrm>
          <a:off x="4386451" y="431731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800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800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Real-time KPI Monitoring</a:t>
          </a:r>
        </a:p>
      </dsp:txBody>
      <dsp:txXfrm>
        <a:off x="4386451" y="431731"/>
        <a:ext cx="1328720" cy="797232"/>
      </dsp:txXfrm>
    </dsp:sp>
    <dsp:sp modelId="{DD149A54-5B24-4EAB-93BD-19C92BE112B8}">
      <dsp:nvSpPr>
        <dsp:cNvPr id="0" name=""/>
        <dsp:cNvSpPr/>
      </dsp:nvSpPr>
      <dsp:spPr>
        <a:xfrm>
          <a:off x="1674" y="1361835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0667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0667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Color-coded Performance Indicators</a:t>
          </a:r>
        </a:p>
      </dsp:txBody>
      <dsp:txXfrm>
        <a:off x="1674" y="1361835"/>
        <a:ext cx="1328720" cy="797232"/>
      </dsp:txXfrm>
    </dsp:sp>
    <dsp:sp modelId="{75CAED77-F953-43B4-BCDB-B63DBBFB48B4}">
      <dsp:nvSpPr>
        <dsp:cNvPr id="0" name=""/>
        <dsp:cNvSpPr/>
      </dsp:nvSpPr>
      <dsp:spPr>
        <a:xfrm>
          <a:off x="1463266" y="1361835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3333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3333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• Multi-level Analytics Integration</a:t>
          </a:r>
        </a:p>
      </dsp:txBody>
      <dsp:txXfrm>
        <a:off x="1463266" y="1361835"/>
        <a:ext cx="1328720" cy="797232"/>
      </dsp:txXfrm>
    </dsp:sp>
    <dsp:sp modelId="{8C823BA1-C5FB-4EF5-BCBB-881CD75CFA8C}">
      <dsp:nvSpPr>
        <dsp:cNvPr id="0" name=""/>
        <dsp:cNvSpPr/>
      </dsp:nvSpPr>
      <dsp:spPr>
        <a:xfrm>
          <a:off x="2924859" y="1361835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600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600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DASHBOARD COMPONENTS:</a:t>
          </a:r>
        </a:p>
      </dsp:txBody>
      <dsp:txXfrm>
        <a:off x="2924859" y="1361835"/>
        <a:ext cx="1328720" cy="797232"/>
      </dsp:txXfrm>
    </dsp:sp>
    <dsp:sp modelId="{E0DBB0D9-3BED-4985-BFBC-7943A4B8A1DC}">
      <dsp:nvSpPr>
        <dsp:cNvPr id="0" name=""/>
        <dsp:cNvSpPr/>
      </dsp:nvSpPr>
      <dsp:spPr>
        <a:xfrm>
          <a:off x="4386451" y="1361835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18667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18667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1. Revenue Trends &amp; Forecasting</a:t>
          </a:r>
        </a:p>
      </dsp:txBody>
      <dsp:txXfrm>
        <a:off x="4386451" y="1361835"/>
        <a:ext cx="1328720" cy="797232"/>
      </dsp:txXfrm>
    </dsp:sp>
    <dsp:sp modelId="{3F569FBD-7E03-49EB-BA17-477A7BFEE214}">
      <dsp:nvSpPr>
        <dsp:cNvPr id="0" name=""/>
        <dsp:cNvSpPr/>
      </dsp:nvSpPr>
      <dsp:spPr>
        <a:xfrm>
          <a:off x="1674" y="2291940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1333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1333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2. Customer Segmentation</a:t>
          </a:r>
        </a:p>
      </dsp:txBody>
      <dsp:txXfrm>
        <a:off x="1674" y="2291940"/>
        <a:ext cx="1328720" cy="797232"/>
      </dsp:txXfrm>
    </dsp:sp>
    <dsp:sp modelId="{9A0F2A23-48FE-4799-A9C6-584DE044BAA4}">
      <dsp:nvSpPr>
        <dsp:cNvPr id="0" name=""/>
        <dsp:cNvSpPr/>
      </dsp:nvSpPr>
      <dsp:spPr>
        <a:xfrm>
          <a:off x="1463266" y="2291940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400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400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3. Regional Performance  </a:t>
          </a:r>
        </a:p>
      </dsp:txBody>
      <dsp:txXfrm>
        <a:off x="1463266" y="2291940"/>
        <a:ext cx="1328720" cy="797232"/>
      </dsp:txXfrm>
    </dsp:sp>
    <dsp:sp modelId="{C5B5ECD9-3DA7-40A8-AC28-A0F2CCF49B90}">
      <dsp:nvSpPr>
        <dsp:cNvPr id="0" name=""/>
        <dsp:cNvSpPr/>
      </dsp:nvSpPr>
      <dsp:spPr>
        <a:xfrm>
          <a:off x="2924859" y="2291940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6667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6667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4. Feature Correlations</a:t>
          </a:r>
        </a:p>
      </dsp:txBody>
      <dsp:txXfrm>
        <a:off x="2924859" y="2291940"/>
        <a:ext cx="1328720" cy="797232"/>
      </dsp:txXfrm>
    </dsp:sp>
    <dsp:sp modelId="{0BB85A1B-8DCA-47B8-B231-50BDB63C4000}">
      <dsp:nvSpPr>
        <dsp:cNvPr id="0" name=""/>
        <dsp:cNvSpPr/>
      </dsp:nvSpPr>
      <dsp:spPr>
        <a:xfrm>
          <a:off x="4386451" y="2291940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29333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29333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5. Support Impact Analysis</a:t>
          </a:r>
        </a:p>
      </dsp:txBody>
      <dsp:txXfrm>
        <a:off x="4386451" y="2291940"/>
        <a:ext cx="1328720" cy="797232"/>
      </dsp:txXfrm>
    </dsp:sp>
    <dsp:sp modelId="{FB720ED1-1932-46C2-B5F1-69B851620B67}">
      <dsp:nvSpPr>
        <dsp:cNvPr id="0" name=""/>
        <dsp:cNvSpPr/>
      </dsp:nvSpPr>
      <dsp:spPr>
        <a:xfrm>
          <a:off x="1674" y="3222044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200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200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6. Satisfaction Metrics</a:t>
          </a:r>
        </a:p>
      </dsp:txBody>
      <dsp:txXfrm>
        <a:off x="1674" y="3222044"/>
        <a:ext cx="1328720" cy="797232"/>
      </dsp:txXfrm>
    </dsp:sp>
    <dsp:sp modelId="{6A8EBBCC-08B6-4791-A0BD-93DC854EBC9C}">
      <dsp:nvSpPr>
        <dsp:cNvPr id="0" name=""/>
        <dsp:cNvSpPr/>
      </dsp:nvSpPr>
      <dsp:spPr>
        <a:xfrm>
          <a:off x="1463266" y="3222044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4667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4667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7. Model Performance</a:t>
          </a:r>
        </a:p>
      </dsp:txBody>
      <dsp:txXfrm>
        <a:off x="1463266" y="3222044"/>
        <a:ext cx="1328720" cy="797232"/>
      </dsp:txXfrm>
    </dsp:sp>
    <dsp:sp modelId="{0F977172-52C4-4F8F-A748-197D39850FF6}">
      <dsp:nvSpPr>
        <dsp:cNvPr id="0" name=""/>
        <dsp:cNvSpPr/>
      </dsp:nvSpPr>
      <dsp:spPr>
        <a:xfrm>
          <a:off x="2924859" y="3222044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37333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37333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8. Churn Risk Distribution</a:t>
          </a:r>
        </a:p>
      </dsp:txBody>
      <dsp:txXfrm>
        <a:off x="2924859" y="3222044"/>
        <a:ext cx="1328720" cy="797232"/>
      </dsp:txXfrm>
    </dsp:sp>
    <dsp:sp modelId="{342A65DA-4A3A-48AA-AFAE-E002D425AFE5}">
      <dsp:nvSpPr>
        <dsp:cNvPr id="0" name=""/>
        <dsp:cNvSpPr/>
      </dsp:nvSpPr>
      <dsp:spPr>
        <a:xfrm>
          <a:off x="4386451" y="3222044"/>
          <a:ext cx="1328720" cy="797232"/>
        </a:xfrm>
        <a:prstGeom prst="rect">
          <a:avLst/>
        </a:prstGeom>
        <a:gradFill rotWithShape="0">
          <a:gsLst>
            <a:gs pos="0">
              <a:schemeClr val="accent1">
                <a:alpha val="90000"/>
                <a:hueOff val="0"/>
                <a:satOff val="0"/>
                <a:lumOff val="0"/>
                <a:alphaOff val="-4000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alpha val="90000"/>
                <a:hueOff val="0"/>
                <a:satOff val="0"/>
                <a:lumOff val="0"/>
                <a:alphaOff val="-4000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9. Recommendation ROI</a:t>
          </a:r>
        </a:p>
      </dsp:txBody>
      <dsp:txXfrm>
        <a:off x="4386451" y="3222044"/>
        <a:ext cx="1328720" cy="7972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837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83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8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16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196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413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233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396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7882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8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60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22041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4049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02526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759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763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849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26446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1" y="685799"/>
            <a:ext cx="8420877" cy="2971801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nsolas"/>
              </a:rPr>
              <a:t>E-COMMERCE CUSTOMER ANALYSIS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FOUR LEVEL ANALYTICS IMPLEMENTATION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A6D5B-6152-07D6-A430-22001827B7C7}"/>
              </a:ext>
            </a:extLst>
          </p:cNvPr>
          <p:cNvSpPr txBox="1"/>
          <p:nvPr/>
        </p:nvSpPr>
        <p:spPr>
          <a:xfrm>
            <a:off x="8439727" y="5940135"/>
            <a:ext cx="3753428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Prepared By: Afra Kafil Ahmed</a:t>
            </a:r>
          </a:p>
          <a:p>
            <a:r>
              <a:rPr lang="en-US" dirty="0"/>
              <a:t>Date: 11th November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F2738-D18A-967F-93DD-64579603C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2710" y="620722"/>
            <a:ext cx="4428231" cy="1068721"/>
          </a:xfrm>
        </p:spPr>
        <p:txBody>
          <a:bodyPr anchor="b">
            <a:normAutofit/>
          </a:bodyPr>
          <a:lstStyle/>
          <a:p>
            <a:r>
              <a:rPr lang="en-US" sz="2800" b="1" dirty="0">
                <a:latin typeface="Miriam Fixed"/>
                <a:cs typeface="Miriam Fixed"/>
              </a:rPr>
              <a:t>PROJECT OVERVIEW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B015E5-5ECE-5FD4-59FD-863158AF4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130" y="1736418"/>
            <a:ext cx="4057063" cy="4016579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Consolas"/>
              </a:rPr>
              <a:t>• Comprehensive analytics platform for e-commerce</a:t>
            </a:r>
            <a:endParaRPr lang="en-US" sz="1400" dirty="0">
              <a:solidFill>
                <a:srgbClr val="0F496F"/>
              </a:solidFill>
              <a:latin typeface="Century Gothic" panose="020B050202020202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Consolas"/>
              </a:rPr>
              <a:t>
• Implements all four levels of analytics</a:t>
            </a:r>
            <a:endParaRPr lang="en-US" sz="1400" dirty="0">
              <a:solidFill>
                <a:srgbClr val="0F496F"/>
              </a:solidFill>
              <a:latin typeface="Century Gothic" panose="020B050202020202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Consolas"/>
              </a:rPr>
              <a:t>
• Data-driven customer insights and predictions</a:t>
            </a:r>
            <a:endParaRPr lang="en-US" sz="1400" dirty="0">
              <a:solidFill>
                <a:srgbClr val="0F496F"/>
              </a:solidFill>
              <a:latin typeface="Century Gothic" panose="020B0502020202020204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F1115"/>
                </a:solidFill>
                <a:latin typeface="Consolas"/>
              </a:rPr>
              <a:t>
• Business intelligence for strategic decisions</a:t>
            </a:r>
            <a:endParaRPr lang="en-US" sz="140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43D204D-F86B-980C-40C4-C40FB9827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81" r="8557" b="2"/>
          <a:stretch>
            <a:fillRect/>
          </a:stretch>
        </p:blipFill>
        <p:spPr>
          <a:xfrm>
            <a:off x="778062" y="786117"/>
            <a:ext cx="6245352" cy="4956048"/>
          </a:xfrm>
          <a:custGeom>
            <a:avLst/>
            <a:gdLst/>
            <a:ahLst/>
            <a:cxnLst/>
            <a:rect l="l" t="t" r="r" b="b"/>
            <a:pathLst>
              <a:path w="6245352" h="4956048">
                <a:moveTo>
                  <a:pt x="534609" y="0"/>
                </a:moveTo>
                <a:lnTo>
                  <a:pt x="6245352" y="0"/>
                </a:lnTo>
                <a:lnTo>
                  <a:pt x="6245352" y="4421439"/>
                </a:lnTo>
                <a:lnTo>
                  <a:pt x="5710743" y="4956048"/>
                </a:lnTo>
                <a:lnTo>
                  <a:pt x="0" y="4956048"/>
                </a:lnTo>
                <a:lnTo>
                  <a:pt x="0" y="53460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772625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001B5-E273-EF8B-A560-F0748B2C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TECHNICAL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A743C-882A-492C-6F53-F69F99AD42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87" y="1092368"/>
            <a:ext cx="8547315" cy="4674317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PROGRAMMING &amp; FRAMEWORKS</a:t>
            </a:r>
            <a:r>
              <a:rPr lang="en-US" sz="1300" dirty="0">
                <a:solidFill>
                  <a:schemeClr val="tx1"/>
                </a:solidFill>
                <a:latin typeface="Consolas"/>
              </a:rPr>
              <a:t>:
• Python 3.x - Core Platform
• Pandas, NumPy - Data Processing
• Scikit-learn, </a:t>
            </a:r>
            <a:r>
              <a:rPr lang="en-US" sz="1300" err="1">
                <a:solidFill>
                  <a:schemeClr val="tx1"/>
                </a:solidFill>
                <a:latin typeface="Consolas"/>
              </a:rPr>
              <a:t>XGBoost - Machine Learning</a:t>
            </a:r>
            <a:r>
              <a:rPr lang="en-US" sz="1300" dirty="0">
                <a:solidFill>
                  <a:schemeClr val="tx1"/>
                </a:solidFill>
                <a:latin typeface="Consolas"/>
              </a:rPr>
              <a:t>
• Matplotlib, Seaborn - Visualization
• </a:t>
            </a:r>
            <a:r>
              <a:rPr lang="en-US" sz="1300" err="1">
                <a:solidFill>
                  <a:schemeClr val="tx1"/>
                </a:solidFill>
                <a:latin typeface="Consolas"/>
              </a:rPr>
              <a:t>Statsmodels</a:t>
            </a:r>
            <a:r>
              <a:rPr lang="en-US" sz="1300">
                <a:solidFill>
                  <a:schemeClr val="tx1"/>
                </a:solidFill>
                <a:latin typeface="Consolas"/>
              </a:rPr>
              <a:t> - Time Series Forecasting</a:t>
            </a:r>
            <a:endParaRPr lang="en-US" sz="1300" dirty="0">
              <a:solidFill>
                <a:schemeClr val="tx1"/>
              </a:solidFill>
              <a:latin typeface="Century Gothic" panose="020B0502020202020204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00" dirty="0">
                <a:solidFill>
                  <a:schemeClr val="tx1"/>
                </a:solidFill>
                <a:latin typeface="Consolas"/>
              </a:rPr>
              <a:t>
</a:t>
            </a: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DATA CHARACTERISTICS:
</a:t>
            </a:r>
            <a:r>
              <a:rPr lang="en-US" sz="1300" dirty="0">
                <a:solidFill>
                  <a:schemeClr val="tx1"/>
                </a:solidFill>
                <a:latin typeface="Consolas"/>
              </a:rPr>
              <a:t>• 10,000+ Customer Records
• 2+ Years Time-Series Data
• 15+ Business Dimensions
• Real-time KPI Monitoring</a:t>
            </a:r>
            <a:endParaRPr lang="en-US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13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BC05-03D5-A036-FD59-0ED853DF6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4088" y="490492"/>
            <a:ext cx="3643435" cy="406375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>
                <a:latin typeface="Miriam Fixed"/>
                <a:cs typeface="Miriam Fixed"/>
              </a:rPr>
              <a:t>DESCRIPTIVE ANALYTICS </a:t>
            </a:r>
          </a:p>
        </p:txBody>
      </p:sp>
      <p:pic>
        <p:nvPicPr>
          <p:cNvPr id="9" name="Content Placeholder 8" descr="A graph with a blue line&#10;&#10;AI-generated content may be incorrect.">
            <a:extLst>
              <a:ext uri="{FF2B5EF4-FFF2-40B4-BE49-F238E27FC236}">
                <a16:creationId xmlns:a16="http://schemas.microsoft.com/office/drawing/2014/main" id="{A139B21C-F62B-74B7-2F20-9BADADBFAA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889"/>
          <a:stretch>
            <a:fillRect/>
          </a:stretch>
        </p:blipFill>
        <p:spPr>
          <a:xfrm>
            <a:off x="2208212" y="3732553"/>
            <a:ext cx="4798183" cy="2425339"/>
          </a:xfrm>
          <a:prstGeom prst="rect">
            <a:avLst/>
          </a:prstGeom>
        </p:spPr>
      </p:pic>
      <p:graphicFrame>
        <p:nvGraphicFramePr>
          <p:cNvPr id="39" name="TextBox 5">
            <a:extLst>
              <a:ext uri="{FF2B5EF4-FFF2-40B4-BE49-F238E27FC236}">
                <a16:creationId xmlns:a16="http://schemas.microsoft.com/office/drawing/2014/main" id="{005C5466-BCC1-583E-4739-B1520CC97A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8908712"/>
              </p:ext>
            </p:extLst>
          </p:nvPr>
        </p:nvGraphicFramePr>
        <p:xfrm>
          <a:off x="684212" y="490491"/>
          <a:ext cx="7195828" cy="3477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9580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9220CFE-A3C6-448E-A8C7-CEAED93255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923416-256A-41F7-2256-9EF4FA68B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7280" y="4536493"/>
            <a:ext cx="7323321" cy="13964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DIAGNOSTIC ANALYTICS</a:t>
            </a:r>
          </a:p>
        </p:txBody>
      </p:sp>
      <p:sp>
        <p:nvSpPr>
          <p:cNvPr id="23" name="Snip Diagonal Corner Rectangle 25">
            <a:extLst>
              <a:ext uri="{FF2B5EF4-FFF2-40B4-BE49-F238E27FC236}">
                <a16:creationId xmlns:a16="http://schemas.microsoft.com/office/drawing/2014/main" id="{2E91ED80-632C-4328-8E5C-0CAF33E77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001" y="620722"/>
            <a:ext cx="3670674" cy="5286838"/>
          </a:xfrm>
          <a:prstGeom prst="snip2DiagRect">
            <a:avLst>
              <a:gd name="adj1" fmla="val 11518"/>
              <a:gd name="adj2" fmla="val 0"/>
            </a:avLst>
          </a:prstGeom>
          <a:solidFill>
            <a:schemeClr val="tx1"/>
          </a:solidFill>
          <a:ln>
            <a:noFill/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chart with red squares&#10;&#10;AI-generated content may be incorrect.">
            <a:extLst>
              <a:ext uri="{FF2B5EF4-FFF2-40B4-BE49-F238E27FC236}">
                <a16:creationId xmlns:a16="http://schemas.microsoft.com/office/drawing/2014/main" id="{D5909F6A-641C-2723-562F-24C74C789F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5839" r="12208" b="4"/>
          <a:stretch>
            <a:fillRect/>
          </a:stretch>
        </p:blipFill>
        <p:spPr>
          <a:xfrm>
            <a:off x="800558" y="786117"/>
            <a:ext cx="3337560" cy="4956048"/>
          </a:xfrm>
          <a:custGeom>
            <a:avLst/>
            <a:gdLst/>
            <a:ahLst/>
            <a:cxnLst/>
            <a:rect l="l" t="t" r="r" b="b"/>
            <a:pathLst>
              <a:path w="3337560" h="4956048">
                <a:moveTo>
                  <a:pt x="384420" y="0"/>
                </a:moveTo>
                <a:lnTo>
                  <a:pt x="3337560" y="0"/>
                </a:lnTo>
                <a:lnTo>
                  <a:pt x="3337560" y="4571628"/>
                </a:lnTo>
                <a:lnTo>
                  <a:pt x="2953140" y="4956048"/>
                </a:lnTo>
                <a:lnTo>
                  <a:pt x="0" y="4956048"/>
                </a:lnTo>
                <a:lnTo>
                  <a:pt x="0" y="384420"/>
                </a:lnTo>
                <a:close/>
              </a:path>
            </a:pathLst>
          </a:cu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F105747-7D5B-7B2D-0D8F-8D75E52FDBE6}"/>
              </a:ext>
            </a:extLst>
          </p:cNvPr>
          <p:cNvSpPr txBox="1"/>
          <p:nvPr/>
        </p:nvSpPr>
        <p:spPr>
          <a:xfrm>
            <a:off x="4624990" y="636639"/>
            <a:ext cx="6290662" cy="4180621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CAPABILITIES DEMONSTRATED:</a:t>
            </a:r>
            <a:r>
              <a:rPr lang="en-US" sz="1500" dirty="0"/>
              <a:t>
• Multi-dimensional Drill-down Analysis
• Statistical Correlation Identification
• Support Ticket Impact Assessment
• Customer Satisfaction Analysis
• Exception &amp; Anomaly Detection
</a:t>
            </a:r>
            <a:r>
              <a:rPr lang="en-US" sz="15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KEY INSIGHTS:</a:t>
            </a:r>
            <a:r>
              <a:rPr lang="en-US" sz="1500" dirty="0"/>
              <a:t>
• Session length strongly correlates with spending (r=0.XX)
• Higher satisfaction scores drive increased revenue
• Regional variations in customer behavior identified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A271B6-83F2-4E87-A6AD-450F042D3D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A433C90-9936-4ABD-B763-2CD6C42165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6D1147B-1DF4-4FA0-9601-3AB638E3B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9E30F5C-D28E-4B06-847C-1104626FCF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1B65F81-D52E-422A-BA2A-0E3294D0C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992E9D3-9DB7-4C46-8AFB-E50194C89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5176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9F4B5-954C-ACAD-0652-A3F0A130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31" y="5347654"/>
            <a:ext cx="8534400" cy="15070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PREDICTIVE ANALYTIC- RESULTS</a:t>
            </a:r>
          </a:p>
        </p:txBody>
      </p:sp>
      <p:pic>
        <p:nvPicPr>
          <p:cNvPr id="4" name="Content Placeholder 3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DEC5281F-E990-2DB2-F63A-950753CAFC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0341" y="733647"/>
            <a:ext cx="3946555" cy="357588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3887B0-B6D7-27D4-699B-E54DDFC681BC}"/>
              </a:ext>
            </a:extLst>
          </p:cNvPr>
          <p:cNvSpPr txBox="1"/>
          <p:nvPr/>
        </p:nvSpPr>
        <p:spPr>
          <a:xfrm>
            <a:off x="5945965" y="170168"/>
            <a:ext cx="5194086" cy="569398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</a:pPr>
            <a:r>
              <a:rPr lang="en-US" sz="2000" b="1" dirty="0">
                <a:latin typeface="Miriam Fixed"/>
                <a:cs typeface="Miriam Fixed"/>
              </a:rPr>
              <a:t>1.CUSTOMER LIFETIME VALUE: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
• Accurate prediction of 3-year customer value
• Enables targeted acquisition spending
• Identifies high-value customer segments
</a:t>
            </a:r>
            <a:r>
              <a:rPr lang="en-US" sz="2000" b="1" dirty="0">
                <a:latin typeface="Miriam Fixed"/>
                <a:cs typeface="Miriam Fixed"/>
              </a:rPr>
              <a:t>2. CHURN RISK ANALYSIS: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
• 59.3% Low Risk | 31.8% Medium Risk | 8.9% High Risk
• Proactive retention strategies enabled
• Revenue protection through early intervention
</a:t>
            </a:r>
            <a:r>
              <a:rPr lang="en-US" sz="2000" b="1" dirty="0">
                <a:latin typeface="Miriam Fixed"/>
                <a:cs typeface="Miriam Fixed"/>
              </a:rPr>
              <a:t>3. REVENUE FORECASTING: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</a:rPr>
              <a:t>
• ARIMA &amp; Exponential Smoothing models
• 6-month revenue projections
• Seasonal trend identification</a:t>
            </a:r>
            <a:endParaRPr lang="en-US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06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181F8-D920-1130-BE20-7EEEFFF89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PRESCRIPTIVE ANALYTICS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88398-7713-F365-5974-AEE6A67975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277" y="1036124"/>
            <a:ext cx="8743335" cy="581523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Clr>
                <a:prstClr val="white"/>
              </a:buClr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OPTIMIZATION ENGINE:</a:t>
            </a:r>
            <a:endParaRPr lang="en-US" sz="1800" b="1">
              <a:solidFill>
                <a:schemeClr val="bg2">
                  <a:lumMod val="60000"/>
                  <a:lumOff val="40000"/>
                </a:schemeClr>
              </a:solidFill>
              <a:latin typeface="Miriam Fixed"/>
              <a:cs typeface="Miriam Fixed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• Marketing Budget Allocation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• Customer Retention Strategies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• Resource Optimization</a:t>
            </a: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• ROI Calculation Framework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KEY RECOMMENDATIONS:</a:t>
            </a:r>
            <a:endParaRPr lang="en-US" sz="1800" b="1">
              <a:solidFill>
                <a:schemeClr val="bg2">
                  <a:lumMod val="60000"/>
                  <a:lumOff val="40000"/>
                </a:schemeClr>
              </a:solidFill>
              <a:latin typeface="Miriam Fixed"/>
              <a:cs typeface="Miriam Fixed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1. VIP PROGRAM (ROI: 2.5x) </a:t>
            </a:r>
            <a:r>
              <a:rPr lang="en-US" sz="140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. Target: Premium segment customers,  ii.  Action: Exclusive benefits &amp; personalized service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2. APP OPTIMIZATION (ROI: 3.2x) 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.  Target: Mobile app users, ii. Action: Enhanced user experience &amp; features</a:t>
            </a:r>
            <a:endParaRPr lang="en-US" sz="14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3. EMAIL CAMPAIGNS (ROI: 1.8x) </a:t>
            </a:r>
            <a:r>
              <a:rPr lang="en-US" sz="1400" dirty="0" err="1">
                <a:solidFill>
                  <a:schemeClr val="tx1"/>
                </a:solidFill>
                <a:ea typeface="+mn-lt"/>
                <a:cs typeface="+mn-lt"/>
              </a:rPr>
              <a:t>i</a:t>
            </a:r>
            <a:r>
              <a:rPr lang="en-US" sz="1400" dirty="0">
                <a:solidFill>
                  <a:schemeClr val="tx1"/>
                </a:solidFill>
                <a:ea typeface="+mn-lt"/>
                <a:cs typeface="+mn-lt"/>
              </a:rPr>
              <a:t>. Target: At-risk customers, ii. Action: Personalized retention offers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797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DDCD-EFEE-69DD-B55F-59EBD0EAB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404" y="4561073"/>
            <a:ext cx="5937939" cy="1212101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Miriam Fixed"/>
                <a:cs typeface="Miriam Fixed"/>
              </a:rPr>
              <a:t>BUSINESS DASHBOARD</a:t>
            </a:r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2C8B930B-129B-61CA-A95E-648BFB07E7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519" y="677408"/>
            <a:ext cx="5600304" cy="5098694"/>
          </a:xfrm>
          <a:prstGeom prst="rect">
            <a:avLst/>
          </a:prstGeom>
          <a:effectLst>
            <a:innerShdw blurRad="57150" dist="38100" dir="14460000">
              <a:prstClr val="black">
                <a:alpha val="70000"/>
              </a:prstClr>
            </a:innerShdw>
          </a:effectLst>
        </p:spPr>
      </p:pic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4635FD5-261F-5FCA-1D19-6AB3730781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6879082"/>
              </p:ext>
            </p:extLst>
          </p:nvPr>
        </p:nvGraphicFramePr>
        <p:xfrm>
          <a:off x="5899353" y="353962"/>
          <a:ext cx="5716846" cy="4451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23972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85D2-658F-E152-6406-CC643D524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202567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DATA PROCESSING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226FC-8E11-4B74-F908-12E252604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45" y="1220479"/>
            <a:ext cx="8829367" cy="542194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Clr>
                <a:prstClr val="white"/>
              </a:buClr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DATA SOURCES: </a:t>
            </a:r>
            <a:endParaRPr lang="en-US" sz="1800" dirty="0">
              <a:solidFill>
                <a:schemeClr val="bg2">
                  <a:lumMod val="60000"/>
                  <a:lumOff val="40000"/>
                </a:schemeClr>
              </a:solidFill>
              <a:latin typeface="Century Gothic"/>
              <a:ea typeface="+mn-lt"/>
              <a:cs typeface="+mn-lt"/>
            </a:endParaRPr>
          </a:p>
          <a:p>
            <a:pPr>
              <a:lnSpc>
                <a:spcPct val="90000"/>
              </a:lnSpc>
              <a:buFont typeface="Wingdings" panose="05040102010807070707" pitchFamily="18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Customer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Transaction History</a:t>
            </a:r>
            <a:endParaRPr lang="en-US" sz="18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v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Behavioral Data (Web/Mobile Usage)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v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Demographic Information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v"/>
            </a:pP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Customer Support Interactions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v"/>
            </a:pPr>
            <a:endParaRPr lang="en-US" sz="1800" dirty="0">
              <a:solidFill>
                <a:schemeClr val="tx1"/>
              </a:solidFill>
              <a:latin typeface="Century Gothic"/>
              <a:ea typeface="+mn-lt"/>
              <a:cs typeface="+mn-lt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PROCESSING PIPELINE: 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1. Data Collection &amp; Validation,   2. Cleaning &amp; Preprocessing,  3. Feature Engineering, 4. Model Training &amp; Validation,  5. Insight Generation,  6. Visualization &amp; Reporting</a:t>
            </a:r>
            <a:endParaRPr lang="en-US" sz="18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v"/>
            </a:pPr>
            <a:endParaRPr lang="en-US" sz="18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8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QUALITY ASSURANCE: </a:t>
            </a:r>
            <a:r>
              <a:rPr lang="en-US" sz="1800" b="1" dirty="0" err="1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i.</a:t>
            </a:r>
            <a:r>
              <a:rPr lang="en-US" sz="1800" dirty="0" err="1">
                <a:solidFill>
                  <a:schemeClr val="tx1"/>
                </a:solidFill>
                <a:latin typeface="Century Gothic"/>
                <a:ea typeface="+mn-lt"/>
                <a:cs typeface="+mn-lt"/>
              </a:rPr>
              <a:t>Automated</a:t>
            </a:r>
            <a:r>
              <a:rPr lang="en-US" sz="1800" dirty="0">
                <a:solidFill>
                  <a:schemeClr val="tx1"/>
                </a:solidFill>
                <a:ea typeface="+mn-lt"/>
                <a:cs typeface="+mn-lt"/>
              </a:rPr>
              <a:t> Data Validation,  ii. Model Performance Monitoring,  iii. Anomaly Detection, iv. Continuous Improvement</a:t>
            </a: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739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6A3C3-6D9B-1355-D772-9E89331AA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101848"/>
            <a:ext cx="8534400" cy="1507067"/>
          </a:xfrm>
        </p:spPr>
        <p:txBody>
          <a:bodyPr/>
          <a:lstStyle/>
          <a:p>
            <a:r>
              <a:rPr lang="en-US" dirty="0"/>
              <a:t>BUSINESS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F5FA9-88CF-A198-C2B5-F7E68592D4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25" y="34413"/>
            <a:ext cx="8804787" cy="5446524"/>
          </a:xfrm>
        </p:spPr>
        <p:txBody>
          <a:bodyPr>
            <a:normAutofit fontScale="92500" lnSpcReduction="20000"/>
          </a:bodyPr>
          <a:lstStyle/>
          <a:p>
            <a:pPr marL="0" indent="0">
              <a:buClr>
                <a:srgbClr val="FFFFFF"/>
              </a:buClr>
              <a:buNone/>
            </a:pPr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sz="1800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REVENUE OPTIMIZATION:</a:t>
            </a:r>
            <a:endParaRPr lang="en-US" sz="1800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Identified $XXX,XXX in growth opportunities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Optimized marketing spend efficiency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Improved customer acquisition ROI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CUSTOMER RETENTION:</a:t>
            </a:r>
            <a:endParaRPr lang="en-US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8.9% high-risk customers identified for proactive outreach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Personalized retention strategies developed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Reduced churn through data-driven interventions</a:t>
            </a:r>
            <a:endParaRPr lang="en-US" dirty="0"/>
          </a:p>
          <a:p>
            <a:pPr>
              <a:buClr>
                <a:srgbClr val="FFFFFF"/>
              </a:buClr>
            </a:pPr>
            <a:endParaRPr lang="en-US"/>
          </a:p>
          <a:p>
            <a:pPr marL="0" indent="0">
              <a:buClr>
                <a:srgbClr val="FFFFFF"/>
              </a:buClr>
              <a:buNone/>
            </a:pPr>
            <a:r>
              <a:rPr lang="en-US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OPERATIONAL EFFICIENCY:</a:t>
            </a:r>
            <a:endParaRPr lang="en-US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Automated reporting saves 40+ hours monthly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Real time monitoring enables quick response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r>
              <a:rPr lang="en-US" dirty="0">
                <a:ea typeface="+mn-lt"/>
                <a:cs typeface="+mn-lt"/>
              </a:rPr>
              <a:t>• Data driven decision  making 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5102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BFC89-DC34-FC47-BB44-210FEC2B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922" y="202567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TECHNICAL ACHIEVEMENTS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3B903-7C17-08DB-AB43-F6BC022E3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825" y="1712092"/>
            <a:ext cx="10648335" cy="44632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Clr>
                <a:prstClr val="white"/>
              </a:buClr>
              <a:buNone/>
            </a:pP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MACHINE LEARNING EXCELLENCE:</a:t>
            </a:r>
            <a:endParaRPr lang="en-US" sz="1600" b="1">
              <a:solidFill>
                <a:schemeClr val="bg2">
                  <a:lumMod val="60000"/>
                  <a:lumOff val="40000"/>
                </a:schemeClr>
              </a:solidFill>
              <a:latin typeface="Miriam Fixed"/>
              <a:cs typeface="Miriam Fixed"/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99.92% Accuracy in CLV Prediction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Multiple Model Validation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Robust Feature Engineering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Comprehensive Model Evaluation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b="1" dirty="0">
                <a:solidFill>
                  <a:schemeClr val="bg2">
                    <a:lumMod val="60000"/>
                    <a:lumOff val="40000"/>
                  </a:schemeClr>
                </a:solidFill>
                <a:ea typeface="+mn-lt"/>
                <a:cs typeface="+mn-lt"/>
              </a:rPr>
              <a:t>SYSTEM ARCHITECTURE:</a:t>
            </a:r>
            <a:endParaRPr lang="en-US" sz="1400" b="1">
              <a:solidFill>
                <a:schemeClr val="bg2">
                  <a:lumMod val="60000"/>
                  <a:lumOff val="40000"/>
                </a:schemeClr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• Scalable Data Processing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• Modular Code Design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• Comprehensive Error Handling</a:t>
            </a: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• Production-Ready Implementation</a:t>
            </a:r>
            <a:endParaRPr lang="en-US" sz="12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endParaRPr lang="en-US" sz="12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ea typeface="+mn-lt"/>
                <a:cs typeface="+mn-lt"/>
              </a:rPr>
              <a:t>INNOVATION &amp; BEST PRACTICES:</a:t>
            </a:r>
            <a:endParaRPr lang="en-US" sz="1400" b="1" dirty="0">
              <a:solidFill>
                <a:schemeClr val="bg2">
                  <a:lumMod val="60000"/>
                  <a:lumOff val="40000"/>
                </a:schemeClr>
              </a:solidFill>
              <a:latin typeface="Miriam Fixed"/>
              <a:cs typeface="Miriam Fixed"/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Four-Level Analytics Integration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Automated Insight Generation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Professional Visualization</a:t>
            </a:r>
            <a:endParaRPr lang="en-US" sz="1200" dirty="0">
              <a:solidFill>
                <a:schemeClr val="tx1"/>
              </a:solidFill>
            </a:endParaRPr>
          </a:p>
          <a:p>
            <a:pPr marL="171450" indent="-171450">
              <a:lnSpc>
                <a:spcPct val="90000"/>
              </a:lnSpc>
              <a:buClr>
                <a:srgbClr val="FFFFFF"/>
              </a:buClr>
              <a:buFont typeface="Wingdings" panose="05040102010807070707" pitchFamily="18" charset="2"/>
              <a:buChar char="Ø"/>
            </a:pPr>
            <a:r>
              <a:rPr lang="en-US" sz="1200" dirty="0">
                <a:solidFill>
                  <a:schemeClr val="tx1"/>
                </a:solidFill>
                <a:ea typeface="+mn-lt"/>
                <a:cs typeface="+mn-lt"/>
              </a:rPr>
              <a:t> Business-Focused Solution Design</a:t>
            </a:r>
            <a:endParaRPr 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70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F6C58-87B5-591A-EF5C-7090512C3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825" y="5187880"/>
            <a:ext cx="8534400" cy="1507067"/>
          </a:xfrm>
        </p:spPr>
        <p:txBody>
          <a:bodyPr/>
          <a:lstStyle/>
          <a:p>
            <a:r>
              <a:rPr lang="en-US" b="1" dirty="0">
                <a:latin typeface="Miriam Fixed"/>
                <a:cs typeface="Miriam Fixed"/>
              </a:rPr>
              <a:t>IMPLEMENTATION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A80E5-4913-F806-AD15-9943400420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8632" y="157317"/>
            <a:ext cx="9124334" cy="5569426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FFFFFF"/>
              </a:buClr>
              <a:buNone/>
            </a:pP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PHASE 1: REQUIREMENTS &amp; DESIGN </a:t>
            </a:r>
            <a:endParaRPr lang="en-US" sz="1600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Business Requirement Analysis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Technical Architecture Design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Data Collection Strategy</a:t>
            </a:r>
            <a:endParaRPr lang="en-US" sz="1600" dirty="0"/>
          </a:p>
          <a:p>
            <a:pPr>
              <a:buClr>
                <a:srgbClr val="FFFFFF"/>
              </a:buClr>
            </a:pPr>
            <a:endParaRPr lang="en-US" sz="1600" b="1" dirty="0"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600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PHASE 2: DEVELOPMENT &amp; TESTING   </a:t>
            </a:r>
            <a:endParaRPr lang="en-US" sz="1600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Descriptive &amp; Diagnostic Analytics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Predictive Model Development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Prescriptive Recommendation Engine</a:t>
            </a:r>
            <a:endParaRPr lang="en-US" sz="1600" dirty="0"/>
          </a:p>
          <a:p>
            <a:pPr>
              <a:buClr>
                <a:srgbClr val="FFFFFF"/>
              </a:buClr>
            </a:pP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b="1" dirty="0">
                <a:solidFill>
                  <a:schemeClr val="tx1"/>
                </a:solidFill>
                <a:latin typeface="Miriam Fixed"/>
                <a:ea typeface="+mn-lt"/>
                <a:cs typeface="+mn-lt"/>
              </a:rPr>
              <a:t>PHASE 3: DEPLOYMENT &amp; VALIDATION</a:t>
            </a:r>
            <a:endParaRPr lang="en-US" sz="1600" b="1">
              <a:solidFill>
                <a:schemeClr val="tx1"/>
              </a:solidFill>
              <a:latin typeface="Miriam Fixed"/>
              <a:cs typeface="Miriam Fixed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Comprehensive Testing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Performance Optimization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r>
              <a:rPr lang="en-US" sz="1600" dirty="0">
                <a:ea typeface="+mn-lt"/>
                <a:cs typeface="+mn-lt"/>
              </a:rPr>
              <a:t>• Business Validation</a:t>
            </a:r>
            <a:endParaRPr lang="en-US" sz="1600" dirty="0"/>
          </a:p>
          <a:p>
            <a:pPr marL="0" indent="0">
              <a:buClr>
                <a:srgbClr val="FFFFFF"/>
              </a:buCl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22148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C296-F647-F1C2-228B-2DDE1FC64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290" y="685800"/>
            <a:ext cx="4818656" cy="4603749"/>
          </a:xfrm>
        </p:spPr>
        <p:txBody>
          <a:bodyPr>
            <a:normAutofit/>
          </a:bodyPr>
          <a:lstStyle/>
          <a:p>
            <a:pPr algn="r"/>
            <a:r>
              <a:rPr lang="en-US" sz="5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Miriam Fixed"/>
                <a:cs typeface="Miriam Fixed"/>
              </a:rPr>
              <a:t>DATA &amp;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C8281-3A37-AE62-C5C2-614F08BE9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5651" y="685800"/>
            <a:ext cx="4878959" cy="4603750"/>
          </a:xfrm>
        </p:spPr>
        <p:txBody>
          <a:bodyPr>
            <a:normAutofit/>
          </a:bodyPr>
          <a:lstStyle/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• 10,000+ customer records analyzed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• 2+ years of time-series data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• Multiple customer dimensions: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- Behavioral data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- Demographic information  </a:t>
            </a:r>
          </a:p>
          <a:p>
            <a:pPr marL="0" indent="0"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- Transaction history</a:t>
            </a:r>
            <a:endParaRPr lang="en-US">
              <a:solidFill>
                <a:schemeClr val="tx1"/>
              </a:solidFill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solidFill>
                  <a:schemeClr val="tx1"/>
                </a:solidFill>
                <a:ea typeface="+mn-lt"/>
                <a:cs typeface="+mn-lt"/>
              </a:rPr>
              <a:t> - Satisfaction metrics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841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993AD-7444-EC99-CF39-D3BE72E87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485244"/>
            <a:ext cx="8534400" cy="1507067"/>
          </a:xfrm>
        </p:spPr>
        <p:txBody>
          <a:bodyPr>
            <a:normAutofit/>
          </a:bodyPr>
          <a:lstStyle/>
          <a:p>
            <a:r>
              <a:rPr lang="en-US" b="1" dirty="0">
                <a:latin typeface="Miriam Fixed"/>
                <a:cs typeface="Miriam Fixed"/>
              </a:rPr>
              <a:t>CONCLUSION &amp; DEMOSTRATION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DBA0F-7C9A-9CC5-D1D5-C17112DBC5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371" y="2001671"/>
            <a:ext cx="8841873" cy="455105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 dirty="0">
                <a:solidFill>
                  <a:schemeClr val="bg1"/>
                </a:solidFill>
                <a:latin typeface="Miriam Fixed"/>
                <a:ea typeface="+mn-lt"/>
                <a:cs typeface="+mn-lt"/>
              </a:rPr>
              <a:t>KEY SUCCESS METRICS:</a:t>
            </a:r>
            <a:endParaRPr lang="en-US" sz="1600" b="1">
              <a:solidFill>
                <a:schemeClr val="bg1"/>
              </a:solidFill>
              <a:latin typeface="Miriam Fixed"/>
              <a:cs typeface="Miriam Fixed"/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All Four Analytics Levels Implemented</a:t>
            </a:r>
            <a:endParaRPr lang="en-US" sz="13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99.9% Model Accuracy Achieved</a:t>
            </a:r>
            <a:endParaRPr lang="en-US" sz="13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Comprehensive Business Insights Delivered</a:t>
            </a: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Professional Dashboard Developed</a:t>
            </a:r>
            <a:endParaRPr lang="en-US" sz="13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 All Project Requirements Exceeded</a:t>
            </a:r>
            <a:endParaRPr lang="en-US" sz="1300" dirty="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130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 dirty="0">
                <a:solidFill>
                  <a:schemeClr val="bg1"/>
                </a:solidFill>
                <a:latin typeface="Miriam Fixed"/>
                <a:ea typeface="+mn-lt"/>
                <a:cs typeface="+mn-lt"/>
              </a:rPr>
              <a:t>LIVE DEMONSTRATION:</a:t>
            </a:r>
            <a:endParaRPr lang="en-US" sz="1600" b="1">
              <a:solidFill>
                <a:schemeClr val="bg1"/>
              </a:solidFill>
              <a:latin typeface="Miriam Fixed"/>
              <a:cs typeface="Miriam Fixed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• Interactive KPI Dashboard Walkthrough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• Predictive Model Performance Showcase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• Prescriptive Recommendations Explanation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300" dirty="0">
                <a:solidFill>
                  <a:schemeClr val="tx1"/>
                </a:solidFill>
                <a:ea typeface="+mn-lt"/>
                <a:cs typeface="+mn-lt"/>
              </a:rPr>
              <a:t>• Business Impact Analysis</a:t>
            </a:r>
            <a:endParaRPr lang="en-US" sz="1300" dirty="0">
              <a:solidFill>
                <a:schemeClr val="tx1"/>
              </a:solidFill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en-US" sz="1300">
              <a:solidFill>
                <a:schemeClr val="tx1"/>
              </a:solidFill>
            </a:endParaRPr>
          </a:p>
          <a:p>
            <a:pPr>
              <a:lnSpc>
                <a:spcPct val="90000"/>
              </a:lnSpc>
              <a:buClr>
                <a:srgbClr val="FFFFFF"/>
              </a:buClr>
              <a:buFont typeface="Arial" panose="05040102010807070707" pitchFamily="18" charset="2"/>
              <a:buChar char="•"/>
            </a:pPr>
            <a:endParaRPr lang="en-US" sz="13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317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B7395-64B5-A0DB-BFFA-6C56A24D8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YOU!!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663475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Slice</vt:lpstr>
      <vt:lpstr>E-COMMERCE CUSTOMER ANALYSIS </vt:lpstr>
      <vt:lpstr>PROJECT OVERVIEW</vt:lpstr>
      <vt:lpstr>TECHNICAL ARCHITECTURE</vt:lpstr>
      <vt:lpstr>DESCRIPTIVE ANALYTICS </vt:lpstr>
      <vt:lpstr>DIAGNOSTIC ANALYTICS</vt:lpstr>
      <vt:lpstr>PREDICTIVE ANALYTIC- RESULTS</vt:lpstr>
      <vt:lpstr>PRESCRIPTIVE ANALYTICS</vt:lpstr>
      <vt:lpstr>BUSINESS DASHBOARD</vt:lpstr>
      <vt:lpstr>DATA PROCESSING PIPELINE</vt:lpstr>
      <vt:lpstr>BUSINESS IMPACT</vt:lpstr>
      <vt:lpstr>TECHNICAL ACHIEVEMENTS</vt:lpstr>
      <vt:lpstr>IMPLEMENTATION ROADMAP</vt:lpstr>
      <vt:lpstr>DATA &amp; METHODOLOGY</vt:lpstr>
      <vt:lpstr>CONCLUSION &amp; DEMOSTRATION</vt:lpstr>
      <vt:lpstr>THANK YOU!!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469</cp:revision>
  <dcterms:created xsi:type="dcterms:W3CDTF">2025-11-10T15:33:31Z</dcterms:created>
  <dcterms:modified xsi:type="dcterms:W3CDTF">2025-11-10T21:37:40Z</dcterms:modified>
</cp:coreProperties>
</file>